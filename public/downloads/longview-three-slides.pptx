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Track 3: communication, trust and policy; public research funding classification. Intended user: the public, with advocates sharing the report. The question is whether the biology of ageing receives a small share of research funding. We do not assume the answer. The numerator includes biology and interventions targeting ageing, with each component shown separately. The denominator is classified ageing-related research in a named government portfolio, excluding unresolved amounts from the central estimate and excluding care delivery and pensions entirely. These are commitments and awards, not annual spending. Sources: https://api.reporter.nih.gov/ and https://www.vr.se/english/swecris.html . See docs/funding/methodology.md and dataset-register.md.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cue: start on the report, open Sweden, show the named scope and its multi-year commitment basis, inspect a source record, then show the US portfolio and its different fiscal-year basis. Search metabolism or a grant ID and follow the original award. Show the method and the visible 90% review requirement. The screenshot is the actual app. Collection covered all NIA-administered FY2024 records: 6,556 returned, with 1,214 constituent subprojects excluded, leaving 5,342. Swecris collection paged all records of VR and Forte, retaining 1,281 with FundingYear 2024. The source snapshots are complete API responses for these selected portfolios, subject to source omissions and revisions. They are not full national totals. Both providers were used for discovery crosschecks; no new paid model classification calls.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the collector, source ledger, amount-weighted aggregation, immutable report snapshots, encrypted remote review and publication gate work. Fourteen funding arithmetic and review-control tests passed during implementation; the browser verification and delivery manifest document the UI checks. These are software tests using synthetic fixtures, not a human accuracy result. The benchmark has 60 records, 30 per country, including 40 titles without ageing keywords; twelve development records are excluded. All reviews are required, with at least 54/60 and 27/30 per country. Each country also needs ten large-award checks including large exclusions, plus report-level approval. The first completed verdict is retained; changed source/label versions invalidate approvals. Remaining: human review, Andrew's boundary decisions, reader comprehension/adoption testing, permanent account-owned hosting and organiser submission. The call brief is in docs/funding/andrew-brief.md. Do not claim that the current estimates prove a large funding gap.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2"/>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lIns="0" rIns="0" tIns="0" bIns="0">
            <a:spAutoFit/>
          </a:bodyPr>
          <a:lstStyle/>
          <a:p>
            <a:pPr>
              <a:lnSpc>
                <a:spcPct val="113000"/>
              </a:lnSpc>
              <a:spcAft>
                <a:spcPts val="0"/>
              </a:spcAft>
              <a:defRPr sz="1000" b="1">
                <a:solidFill>
                  <a:srgbClr val="7A8C6D"/>
                </a:solidFill>
                <a:latin typeface="DejaVu Sans"/>
              </a:defRPr>
            </a:pPr>
            <a:r>
              <a:t>longview / THE PUBLIC FUNDING QUESTION</a:t>
            </a:r>
          </a:p>
        </p:txBody>
      </p:sp>
      <p:sp>
        <p:nvSpPr>
          <p:cNvPr id="3" name="TextBox 2"/>
          <p:cNvSpPr txBox="1"/>
          <p:nvPr/>
        </p:nvSpPr>
        <p:spPr>
          <a:xfrm>
            <a:off x="548640" y="950976"/>
            <a:ext cx="10972800" cy="1371600"/>
          </a:xfrm>
          <a:prstGeom prst="rect">
            <a:avLst/>
          </a:prstGeom>
          <a:noFill/>
        </p:spPr>
        <p:txBody>
          <a:bodyPr wrap="none" lIns="0" rIns="0" tIns="0" bIns="0">
            <a:spAutoFit/>
          </a:bodyPr>
          <a:lstStyle/>
          <a:p>
            <a:pPr>
              <a:lnSpc>
                <a:spcPct val="113000"/>
              </a:lnSpc>
              <a:spcAft>
                <a:spcPts val="0"/>
              </a:spcAft>
              <a:defRPr sz="3700" b="0">
                <a:solidFill>
                  <a:srgbClr val="1B3E31"/>
                </a:solidFill>
                <a:latin typeface="DejaVu Sans"/>
              </a:defRPr>
            </a:pPr>
            <a:r>
              <a:t>What do we fund</a:t>
            </a:r>
          </a:p>
          <a:p>
            <a:pPr>
              <a:lnSpc>
                <a:spcPct val="113000"/>
              </a:lnSpc>
              <a:spcAft>
                <a:spcPts val="0"/>
              </a:spcAft>
              <a:defRPr sz="3700" b="0">
                <a:solidFill>
                  <a:srgbClr val="1B3E31"/>
                </a:solidFill>
                <a:latin typeface="DejaVu Sans"/>
              </a:defRPr>
            </a:pPr>
            <a:r>
              <a:t>when we fund ageing?</a:t>
            </a:r>
          </a:p>
        </p:txBody>
      </p:sp>
      <p:sp>
        <p:nvSpPr>
          <p:cNvPr id="4" name="TextBox 3"/>
          <p:cNvSpPr txBox="1"/>
          <p:nvPr/>
        </p:nvSpPr>
        <p:spPr>
          <a:xfrm>
            <a:off x="594360" y="2852928"/>
            <a:ext cx="4846320" cy="731520"/>
          </a:xfrm>
          <a:prstGeom prst="rect">
            <a:avLst/>
          </a:prstGeom>
          <a:noFill/>
        </p:spPr>
        <p:txBody>
          <a:bodyPr wrap="none" lIns="0" rIns="0" tIns="0" bIns="0">
            <a:spAutoFit/>
          </a:bodyPr>
          <a:lstStyle/>
          <a:p>
            <a:pPr>
              <a:lnSpc>
                <a:spcPct val="113000"/>
              </a:lnSpc>
              <a:spcAft>
                <a:spcPts val="0"/>
              </a:spcAft>
              <a:defRPr sz="1700" b="0">
                <a:solidFill>
                  <a:srgbClr val="7A8C6D"/>
                </a:solidFill>
                <a:latin typeface="DejaVu Sans"/>
              </a:defRPr>
            </a:pPr>
            <a:r>
              <a:t>A public report for people who want</a:t>
            </a:r>
          </a:p>
          <a:p>
            <a:pPr>
              <a:lnSpc>
                <a:spcPct val="113000"/>
              </a:lnSpc>
              <a:spcAft>
                <a:spcPts val="0"/>
              </a:spcAft>
              <a:defRPr sz="1700" b="0">
                <a:solidFill>
                  <a:srgbClr val="7A8C6D"/>
                </a:solidFill>
                <a:latin typeface="DejaVu Sans"/>
              </a:defRPr>
            </a:pPr>
            <a:r>
              <a:t>to see where research money goes.</a:t>
            </a:r>
          </a:p>
        </p:txBody>
      </p:sp>
      <p:sp>
        <p:nvSpPr>
          <p:cNvPr id="5" name="TextBox 4"/>
          <p:cNvSpPr txBox="1"/>
          <p:nvPr/>
        </p:nvSpPr>
        <p:spPr>
          <a:xfrm>
            <a:off x="594360" y="4059936"/>
            <a:ext cx="4800600" cy="868680"/>
          </a:xfrm>
          <a:prstGeom prst="rect">
            <a:avLst/>
          </a:prstGeom>
          <a:noFill/>
        </p:spPr>
        <p:txBody>
          <a:bodyPr wrap="none" lIns="0" rIns="0" tIns="0" bIns="0">
            <a:spAutoFit/>
          </a:bodyPr>
          <a:lstStyle/>
          <a:p>
            <a:pPr>
              <a:lnSpc>
                <a:spcPct val="113000"/>
              </a:lnSpc>
              <a:spcAft>
                <a:spcPts val="0"/>
              </a:spcAft>
              <a:defRPr sz="1400" b="0">
                <a:solidFill>
                  <a:srgbClr val="1B3E31"/>
                </a:solidFill>
                <a:latin typeface="DejaVu Sans"/>
              </a:defRPr>
            </a:pPr>
            <a:r>
              <a:t>One portfolio. One funding period.</a:t>
            </a:r>
          </a:p>
          <a:p>
            <a:pPr>
              <a:lnSpc>
                <a:spcPct val="113000"/>
              </a:lnSpc>
              <a:spcAft>
                <a:spcPts val="0"/>
              </a:spcAft>
              <a:defRPr sz="1400" b="0">
                <a:solidFill>
                  <a:srgbClr val="1B3E31"/>
                </a:solidFill>
                <a:latin typeface="DejaVu Sans"/>
              </a:defRPr>
            </a:pPr>
            <a:r>
              <a:t>A source behind every award.</a:t>
            </a:r>
          </a:p>
          <a:p>
            <a:pPr>
              <a:lnSpc>
                <a:spcPct val="113000"/>
              </a:lnSpc>
              <a:spcAft>
                <a:spcPts val="0"/>
              </a:spcAft>
              <a:defRPr sz="1400" b="0">
                <a:solidFill>
                  <a:srgbClr val="1B3E31"/>
                </a:solidFill>
                <a:latin typeface="DejaVu Sans"/>
              </a:defRPr>
            </a:pPr>
            <a:r>
              <a:t>An estimate whose method travels with it.</a:t>
            </a:r>
          </a:p>
        </p:txBody>
      </p:sp>
      <p:sp>
        <p:nvSpPr>
          <p:cNvPr id="6" name="Rounded Rectangle 5"/>
          <p:cNvSpPr/>
          <p:nvPr/>
        </p:nvSpPr>
        <p:spPr>
          <a:xfrm>
            <a:off x="5943600" y="1078992"/>
            <a:ext cx="5623560" cy="4864608"/>
          </a:xfrm>
          <a:prstGeom prst="roundRect">
            <a:avLst>
              <a:gd name="adj" fmla="val 12000"/>
            </a:avLst>
          </a:prstGeom>
          <a:solidFill>
            <a:srgbClr val="E8EE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463040"/>
            <a:ext cx="5029200" cy="274320"/>
          </a:xfrm>
          <a:prstGeom prst="rect">
            <a:avLst/>
          </a:prstGeom>
          <a:noFill/>
        </p:spPr>
        <p:txBody>
          <a:bodyPr wrap="none" lIns="0" rIns="0" tIns="0" bIns="0">
            <a:spAutoFit/>
          </a:bodyPr>
          <a:lstStyle/>
          <a:p>
            <a:pPr>
              <a:lnSpc>
                <a:spcPct val="113000"/>
              </a:lnSpc>
              <a:spcAft>
                <a:spcPts val="0"/>
              </a:spcAft>
              <a:defRPr sz="900" b="1">
                <a:solidFill>
                  <a:srgbClr val="7A8C6D"/>
                </a:solidFill>
                <a:latin typeface="DejaVu Sans"/>
              </a:defRPr>
            </a:pPr>
            <a:r>
              <a:t>THE SHARE WE WANT TO MEASURE</a:t>
            </a:r>
          </a:p>
        </p:txBody>
      </p:sp>
      <p:sp>
        <p:nvSpPr>
          <p:cNvPr id="8" name="TextBox 7"/>
          <p:cNvSpPr txBox="1"/>
          <p:nvPr/>
        </p:nvSpPr>
        <p:spPr>
          <a:xfrm>
            <a:off x="6309360" y="2103120"/>
            <a:ext cx="4892040" cy="1097280"/>
          </a:xfrm>
          <a:prstGeom prst="rect">
            <a:avLst/>
          </a:prstGeom>
          <a:noFill/>
        </p:spPr>
        <p:txBody>
          <a:bodyPr wrap="none" lIns="0" rIns="0" tIns="0" bIns="0">
            <a:spAutoFit/>
          </a:bodyPr>
          <a:lstStyle/>
          <a:p>
            <a:pPr>
              <a:lnSpc>
                <a:spcPct val="113000"/>
              </a:lnSpc>
              <a:spcAft>
                <a:spcPts val="0"/>
              </a:spcAft>
              <a:defRPr sz="2500" b="0">
                <a:solidFill>
                  <a:srgbClr val="426D4D"/>
                </a:solidFill>
                <a:latin typeface="DejaVu Sans"/>
              </a:defRPr>
            </a:pPr>
            <a:r>
              <a:t>Ageing biology</a:t>
            </a:r>
          </a:p>
          <a:p>
            <a:pPr>
              <a:lnSpc>
                <a:spcPct val="113000"/>
              </a:lnSpc>
              <a:spcAft>
                <a:spcPts val="0"/>
              </a:spcAft>
              <a:defRPr sz="2500" b="0">
                <a:solidFill>
                  <a:srgbClr val="426D4D"/>
                </a:solidFill>
                <a:latin typeface="DejaVu Sans"/>
              </a:defRPr>
            </a:pPr>
            <a:r>
              <a:t>+ ageing interventions</a:t>
            </a:r>
          </a:p>
        </p:txBody>
      </p:sp>
      <p:cxnSp>
        <p:nvCxnSpPr>
          <p:cNvPr id="9" name="Connector 8"/>
          <p:cNvCxnSpPr/>
          <p:nvPr/>
        </p:nvCxnSpPr>
        <p:spPr>
          <a:xfrm>
            <a:off x="6309360" y="3392424"/>
            <a:ext cx="4800600" cy="0"/>
          </a:xfrm>
          <a:prstGeom prst="line">
            <a:avLst/>
          </a:prstGeom>
          <a:ln w="12700">
            <a:solidFill>
              <a:srgbClr val="BAC7A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309360" y="3749039"/>
            <a:ext cx="4800600" cy="914400"/>
          </a:xfrm>
          <a:prstGeom prst="rect">
            <a:avLst/>
          </a:prstGeom>
          <a:noFill/>
        </p:spPr>
        <p:txBody>
          <a:bodyPr wrap="none" lIns="0" rIns="0" tIns="0" bIns="0">
            <a:spAutoFit/>
          </a:bodyPr>
          <a:lstStyle/>
          <a:p>
            <a:pPr>
              <a:lnSpc>
                <a:spcPct val="113000"/>
              </a:lnSpc>
              <a:spcAft>
                <a:spcPts val="0"/>
              </a:spcAft>
              <a:defRPr sz="2300" b="0">
                <a:solidFill>
                  <a:srgbClr val="1B3E31"/>
                </a:solidFill>
                <a:latin typeface="DejaVu Sans"/>
              </a:defRPr>
            </a:pPr>
            <a:r>
              <a:t>All classified</a:t>
            </a:r>
          </a:p>
          <a:p>
            <a:pPr>
              <a:lnSpc>
                <a:spcPct val="113000"/>
              </a:lnSpc>
              <a:spcAft>
                <a:spcPts val="0"/>
              </a:spcAft>
              <a:defRPr sz="2300" b="0">
                <a:solidFill>
                  <a:srgbClr val="1B3E31"/>
                </a:solidFill>
                <a:latin typeface="DejaVu Sans"/>
              </a:defRPr>
            </a:pPr>
            <a:r>
              <a:t>ageing research funding</a:t>
            </a:r>
          </a:p>
        </p:txBody>
      </p:sp>
      <p:sp>
        <p:nvSpPr>
          <p:cNvPr id="11" name="TextBox 10"/>
          <p:cNvSpPr txBox="1"/>
          <p:nvPr/>
        </p:nvSpPr>
        <p:spPr>
          <a:xfrm>
            <a:off x="6309360" y="5175504"/>
            <a:ext cx="4709160" cy="438912"/>
          </a:xfrm>
          <a:prstGeom prst="rect">
            <a:avLst/>
          </a:prstGeom>
          <a:noFill/>
        </p:spPr>
        <p:txBody>
          <a:bodyPr wrap="none" lIns="0" rIns="0" tIns="0" bIns="0">
            <a:spAutoFit/>
          </a:bodyPr>
          <a:lstStyle/>
          <a:p>
            <a:pPr>
              <a:lnSpc>
                <a:spcPct val="113000"/>
              </a:lnSpc>
              <a:spcAft>
                <a:spcPts val="0"/>
              </a:spcAft>
              <a:defRPr sz="1000" b="0">
                <a:solidFill>
                  <a:srgbClr val="7A8C6D"/>
                </a:solidFill>
                <a:latin typeface="DejaVu Sans"/>
              </a:defRPr>
            </a:pPr>
            <a:r>
              <a:t>Weighted by award amounts.</a:t>
            </a:r>
          </a:p>
          <a:p>
            <a:pPr>
              <a:lnSpc>
                <a:spcPct val="113000"/>
              </a:lnSpc>
              <a:spcAft>
                <a:spcPts val="0"/>
              </a:spcAft>
              <a:defRPr sz="1000" b="0">
                <a:solidFill>
                  <a:srgbClr val="7A8C6D"/>
                </a:solidFill>
                <a:latin typeface="DejaVu Sans"/>
              </a:defRPr>
            </a:pPr>
            <a:r>
              <a:t>Care delivery and pensions are excluded.</a:t>
            </a:r>
          </a:p>
        </p:txBody>
      </p:sp>
      <p:cxnSp>
        <p:nvCxnSpPr>
          <p:cNvPr id="12" name="Connector 11"/>
          <p:cNvCxnSpPr/>
          <p:nvPr/>
        </p:nvCxnSpPr>
        <p:spPr>
          <a:xfrm>
            <a:off x="502920" y="6419088"/>
            <a:ext cx="11183112" cy="0"/>
          </a:xfrm>
          <a:prstGeom prst="line">
            <a:avLst/>
          </a:prstGeom>
          <a:ln w="6350">
            <a:solidFill>
              <a:srgbClr val="DCE3D2"/>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 y="6519672"/>
            <a:ext cx="10789920" cy="182880"/>
          </a:xfrm>
          <a:prstGeom prst="rect">
            <a:avLst/>
          </a:prstGeom>
          <a:noFill/>
        </p:spPr>
        <p:txBody>
          <a:bodyPr wrap="none" lIns="0" rIns="0" tIns="0" bIns="0">
            <a:spAutoFit/>
          </a:bodyPr>
          <a:lstStyle/>
          <a:p>
            <a:pPr>
              <a:lnSpc>
                <a:spcPct val="113000"/>
              </a:lnSpc>
              <a:spcAft>
                <a:spcPts val="0"/>
              </a:spcAft>
              <a:defRPr sz="640" b="0">
                <a:solidFill>
                  <a:srgbClr val="7A8C6D"/>
                </a:solidFill>
                <a:latin typeface="DejaVu Sans"/>
              </a:defRPr>
            </a:pPr>
            <a:r>
              <a:t>Method v1 · 2024 recorded awards/commitments. NIH RePORTER + Swecris, retrieved 12 Sep 2026. Selected portfolios, not national totals.</a:t>
            </a:r>
          </a:p>
        </p:txBody>
      </p:sp>
      <p:sp>
        <p:nvSpPr>
          <p:cNvPr id="14" name="TextBox 13"/>
          <p:cNvSpPr txBox="1"/>
          <p:nvPr/>
        </p:nvSpPr>
        <p:spPr>
          <a:xfrm>
            <a:off x="11384280" y="6492240"/>
            <a:ext cx="365760" cy="182880"/>
          </a:xfrm>
          <a:prstGeom prst="rect">
            <a:avLst/>
          </a:prstGeom>
          <a:noFill/>
        </p:spPr>
        <p:txBody>
          <a:bodyPr wrap="none" lIns="0" rIns="0" tIns="0" bIns="0">
            <a:spAutoFit/>
          </a:bodyPr>
          <a:lstStyle/>
          <a:p>
            <a:pPr>
              <a:lnSpc>
                <a:spcPct val="113000"/>
              </a:lnSpc>
              <a:spcAft>
                <a:spcPts val="0"/>
              </a:spcAft>
              <a:defRPr sz="800" b="0">
                <a:solidFill>
                  <a:srgbClr val="7A8C6D"/>
                </a:solidFill>
                <a:latin typeface="DejaVu San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73F34"/>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lIns="0" rIns="0" tIns="0" bIns="0">
            <a:spAutoFit/>
          </a:bodyPr>
          <a:lstStyle/>
          <a:p>
            <a:pPr>
              <a:lnSpc>
                <a:spcPct val="113000"/>
              </a:lnSpc>
              <a:spcAft>
                <a:spcPts val="0"/>
              </a:spcAft>
              <a:defRPr sz="1000" b="1">
                <a:solidFill>
                  <a:srgbClr val="B5C9AE"/>
                </a:solidFill>
                <a:latin typeface="DejaVu Sans"/>
              </a:defRPr>
            </a:pPr>
            <a:r>
              <a:t>longview / THE WORKING REPORT</a:t>
            </a:r>
          </a:p>
        </p:txBody>
      </p:sp>
      <p:sp>
        <p:nvSpPr>
          <p:cNvPr id="3" name="TextBox 2"/>
          <p:cNvSpPr txBox="1"/>
          <p:nvPr/>
        </p:nvSpPr>
        <p:spPr>
          <a:xfrm>
            <a:off x="548640" y="932688"/>
            <a:ext cx="10972800" cy="731520"/>
          </a:xfrm>
          <a:prstGeom prst="rect">
            <a:avLst/>
          </a:prstGeom>
          <a:noFill/>
        </p:spPr>
        <p:txBody>
          <a:bodyPr wrap="none" lIns="0" rIns="0" tIns="0" bIns="0">
            <a:spAutoFit/>
          </a:bodyPr>
          <a:lstStyle/>
          <a:p>
            <a:pPr>
              <a:lnSpc>
                <a:spcPct val="113000"/>
              </a:lnSpc>
              <a:spcAft>
                <a:spcPts val="0"/>
              </a:spcAft>
              <a:defRPr sz="3000" b="0">
                <a:solidFill>
                  <a:srgbClr val="EAF0D9"/>
                </a:solidFill>
                <a:latin typeface="DejaVu Sans"/>
              </a:defRPr>
            </a:pPr>
            <a:r>
              <a:t>Two portfolios. Every award traceable.</a:t>
            </a:r>
          </a:p>
        </p:txBody>
      </p:sp>
      <p:sp>
        <p:nvSpPr>
          <p:cNvPr id="4" name="TextBox 3"/>
          <p:cNvSpPr txBox="1"/>
          <p:nvPr/>
        </p:nvSpPr>
        <p:spPr>
          <a:xfrm>
            <a:off x="603504" y="1975104"/>
            <a:ext cx="3657600" cy="640080"/>
          </a:xfrm>
          <a:prstGeom prst="rect">
            <a:avLst/>
          </a:prstGeom>
          <a:noFill/>
        </p:spPr>
        <p:txBody>
          <a:bodyPr wrap="none" lIns="0" rIns="0" tIns="0" bIns="0">
            <a:spAutoFit/>
          </a:bodyPr>
          <a:lstStyle/>
          <a:p>
            <a:pPr>
              <a:lnSpc>
                <a:spcPct val="113000"/>
              </a:lnSpc>
              <a:spcAft>
                <a:spcPts val="0"/>
              </a:spcAft>
              <a:defRPr sz="4200" b="0">
                <a:solidFill>
                  <a:srgbClr val="EAF0D9"/>
                </a:solidFill>
                <a:latin typeface="DejaVu Sans"/>
              </a:defRPr>
            </a:pPr>
            <a:r>
              <a:t>6,623</a:t>
            </a:r>
          </a:p>
        </p:txBody>
      </p:sp>
      <p:sp>
        <p:nvSpPr>
          <p:cNvPr id="5" name="TextBox 4"/>
          <p:cNvSpPr txBox="1"/>
          <p:nvPr/>
        </p:nvSpPr>
        <p:spPr>
          <a:xfrm>
            <a:off x="603504" y="2706624"/>
            <a:ext cx="3657600" cy="365760"/>
          </a:xfrm>
          <a:prstGeom prst="rect">
            <a:avLst/>
          </a:prstGeom>
          <a:noFill/>
        </p:spPr>
        <p:txBody>
          <a:bodyPr wrap="none" lIns="0" rIns="0" tIns="0" bIns="0">
            <a:spAutoFit/>
          </a:bodyPr>
          <a:lstStyle/>
          <a:p>
            <a:pPr>
              <a:lnSpc>
                <a:spcPct val="113000"/>
              </a:lnSpc>
              <a:spcAft>
                <a:spcPts val="0"/>
              </a:spcAft>
              <a:defRPr sz="1300" b="0">
                <a:solidFill>
                  <a:srgbClr val="AEC3A5"/>
                </a:solidFill>
                <a:latin typeface="DejaVu Sans"/>
              </a:defRPr>
            </a:pPr>
            <a:r>
              <a:t>official-source award records</a:t>
            </a:r>
          </a:p>
        </p:txBody>
      </p:sp>
      <p:sp>
        <p:nvSpPr>
          <p:cNvPr id="6" name="TextBox 5"/>
          <p:cNvSpPr txBox="1"/>
          <p:nvPr/>
        </p:nvSpPr>
        <p:spPr>
          <a:xfrm>
            <a:off x="603504" y="3310128"/>
            <a:ext cx="3657600" cy="914400"/>
          </a:xfrm>
          <a:prstGeom prst="rect">
            <a:avLst/>
          </a:prstGeom>
          <a:noFill/>
        </p:spPr>
        <p:txBody>
          <a:bodyPr wrap="none" lIns="0" rIns="0" tIns="0" bIns="0">
            <a:spAutoFit/>
          </a:bodyPr>
          <a:lstStyle/>
          <a:p>
            <a:pPr>
              <a:lnSpc>
                <a:spcPct val="113000"/>
              </a:lnSpc>
              <a:spcAft>
                <a:spcPts val="0"/>
              </a:spcAft>
              <a:defRPr sz="1300" b="0">
                <a:solidFill>
                  <a:srgbClr val="EAF0D9"/>
                </a:solidFill>
                <a:latin typeface="DejaVu Sans"/>
              </a:defRPr>
            </a:pPr>
            <a:r>
              <a:t>Sweden: 1,281</a:t>
            </a:r>
          </a:p>
          <a:p>
            <a:pPr>
              <a:lnSpc>
                <a:spcPct val="113000"/>
              </a:lnSpc>
              <a:spcAft>
                <a:spcPts val="0"/>
              </a:spcAft>
              <a:defRPr sz="1300" b="0">
                <a:solidFill>
                  <a:srgbClr val="EAF0D9"/>
                </a:solidFill>
                <a:latin typeface="DejaVu Sans"/>
              </a:defRPr>
            </a:pPr>
            <a:r>
              <a:t>Research Council + Forte</a:t>
            </a:r>
          </a:p>
          <a:p>
            <a:pPr>
              <a:lnSpc>
                <a:spcPct val="113000"/>
              </a:lnSpc>
              <a:spcAft>
                <a:spcPts val="0"/>
              </a:spcAft>
              <a:defRPr sz="1300" b="0">
                <a:solidFill>
                  <a:srgbClr val="EAF0D9"/>
                </a:solidFill>
                <a:latin typeface="DejaVu Sans"/>
              </a:defRPr>
            </a:pPr>
          </a:p>
          <a:p>
            <a:pPr>
              <a:lnSpc>
                <a:spcPct val="113000"/>
              </a:lnSpc>
              <a:spcAft>
                <a:spcPts val="0"/>
              </a:spcAft>
              <a:defRPr sz="1300" b="0">
                <a:solidFill>
                  <a:srgbClr val="EAF0D9"/>
                </a:solidFill>
                <a:latin typeface="DejaVu Sans"/>
              </a:defRPr>
            </a:pPr>
            <a:r>
              <a:t>United States: 5,342</a:t>
            </a:r>
          </a:p>
          <a:p>
            <a:pPr>
              <a:lnSpc>
                <a:spcPct val="113000"/>
              </a:lnSpc>
              <a:spcAft>
                <a:spcPts val="0"/>
              </a:spcAft>
              <a:defRPr sz="1300" b="0">
                <a:solidFill>
                  <a:srgbClr val="EAF0D9"/>
                </a:solidFill>
                <a:latin typeface="DejaVu Sans"/>
              </a:defRPr>
            </a:pPr>
            <a:r>
              <a:t>NIA-administered awards</a:t>
            </a:r>
          </a:p>
        </p:txBody>
      </p:sp>
      <p:sp>
        <p:nvSpPr>
          <p:cNvPr id="7" name="TextBox 6"/>
          <p:cNvSpPr txBox="1"/>
          <p:nvPr/>
        </p:nvSpPr>
        <p:spPr>
          <a:xfrm>
            <a:off x="603504" y="5074920"/>
            <a:ext cx="3703320" cy="658368"/>
          </a:xfrm>
          <a:prstGeom prst="rect">
            <a:avLst/>
          </a:prstGeom>
          <a:noFill/>
        </p:spPr>
        <p:txBody>
          <a:bodyPr wrap="none" lIns="0" rIns="0" tIns="0" bIns="0">
            <a:spAutoFit/>
          </a:bodyPr>
          <a:lstStyle/>
          <a:p>
            <a:pPr>
              <a:lnSpc>
                <a:spcPct val="113000"/>
              </a:lnSpc>
              <a:spcAft>
                <a:spcPts val="0"/>
              </a:spcAft>
              <a:defRPr sz="1200" b="0">
                <a:solidFill>
                  <a:srgbClr val="AEC3A5"/>
                </a:solidFill>
                <a:latin typeface="DejaVu Sans"/>
              </a:defRPr>
            </a:pPr>
            <a:r>
              <a:t>Open a portfolio. Inspect an award.</a:t>
            </a:r>
          </a:p>
          <a:p>
            <a:pPr>
              <a:lnSpc>
                <a:spcPct val="113000"/>
              </a:lnSpc>
              <a:spcAft>
                <a:spcPts val="0"/>
              </a:spcAft>
              <a:defRPr sz="1200" b="0">
                <a:solidFill>
                  <a:srgbClr val="AEC3A5"/>
                </a:solidFill>
                <a:latin typeface="DejaVu Sans"/>
              </a:defRPr>
            </a:pPr>
            <a:r>
              <a:t>Follow its source and funding period.</a:t>
            </a:r>
          </a:p>
        </p:txBody>
      </p:sp>
      <p:sp>
        <p:nvSpPr>
          <p:cNvPr id="8" name="Rounded Rectangle 7"/>
          <p:cNvSpPr/>
          <p:nvPr/>
        </p:nvSpPr>
        <p:spPr>
          <a:xfrm>
            <a:off x="4617720" y="1929384"/>
            <a:ext cx="7004304" cy="4352544"/>
          </a:xfrm>
          <a:prstGeom prst="roundRect">
            <a:avLst>
              <a:gd name="adj" fmla="val 12000"/>
            </a:avLst>
          </a:prstGeom>
          <a:solidFill>
            <a:srgbClr val="5673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unding-slide-demo.png"/>
          <p:cNvPicPr>
            <a:picLocks noChangeAspect="1"/>
          </p:cNvPicPr>
          <p:nvPr/>
        </p:nvPicPr>
        <p:blipFill>
          <a:blip r:embed="rId2"/>
          <a:stretch>
            <a:fillRect/>
          </a:stretch>
        </p:blipFill>
        <p:spPr>
          <a:xfrm>
            <a:off x="4690872" y="2002536"/>
            <a:ext cx="6858000" cy="4206240"/>
          </a:xfrm>
          <a:prstGeom prst="rect">
            <a:avLst/>
          </a:prstGeom>
        </p:spPr>
      </p:pic>
      <p:cxnSp>
        <p:nvCxnSpPr>
          <p:cNvPr id="10" name="Connector 9"/>
          <p:cNvCxnSpPr/>
          <p:nvPr/>
        </p:nvCxnSpPr>
        <p:spPr>
          <a:xfrm>
            <a:off x="502920" y="6419088"/>
            <a:ext cx="11183112" cy="0"/>
          </a:xfrm>
          <a:prstGeom prst="line">
            <a:avLst/>
          </a:prstGeom>
          <a:ln w="6350">
            <a:solidFill>
              <a:srgbClr val="54725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02920" y="6519672"/>
            <a:ext cx="10789920" cy="182880"/>
          </a:xfrm>
          <a:prstGeom prst="rect">
            <a:avLst/>
          </a:prstGeom>
          <a:noFill/>
        </p:spPr>
        <p:txBody>
          <a:bodyPr wrap="none" lIns="0" rIns="0" tIns="0" bIns="0">
            <a:spAutoFit/>
          </a:bodyPr>
          <a:lstStyle/>
          <a:p>
            <a:pPr>
              <a:lnSpc>
                <a:spcPct val="113000"/>
              </a:lnSpc>
              <a:spcAft>
                <a:spcPts val="0"/>
              </a:spcAft>
              <a:defRPr sz="640" b="0">
                <a:solidFill>
                  <a:srgbClr val="B0C5A9"/>
                </a:solidFill>
                <a:latin typeface="DejaVu Sans"/>
              </a:defRPr>
            </a:pPr>
            <a:r>
              <a:t>React / TypeScript · Python / SQLite · Local objective rules · You.com + Tavily discovery · Source-linked static release; no client API keys.</a:t>
            </a:r>
          </a:p>
        </p:txBody>
      </p:sp>
      <p:sp>
        <p:nvSpPr>
          <p:cNvPr id="12" name="TextBox 11"/>
          <p:cNvSpPr txBox="1"/>
          <p:nvPr/>
        </p:nvSpPr>
        <p:spPr>
          <a:xfrm>
            <a:off x="11384280" y="6492240"/>
            <a:ext cx="365760" cy="182880"/>
          </a:xfrm>
          <a:prstGeom prst="rect">
            <a:avLst/>
          </a:prstGeom>
          <a:noFill/>
        </p:spPr>
        <p:txBody>
          <a:bodyPr wrap="none" lIns="0" rIns="0" tIns="0" bIns="0">
            <a:spAutoFit/>
          </a:bodyPr>
          <a:lstStyle/>
          <a:p>
            <a:pPr>
              <a:lnSpc>
                <a:spcPct val="113000"/>
              </a:lnSpc>
              <a:spcAft>
                <a:spcPts val="0"/>
              </a:spcAft>
              <a:defRPr sz="800" b="0">
                <a:solidFill>
                  <a:srgbClr val="B0C5A9"/>
                </a:solidFill>
                <a:latin typeface="DejaVu San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2"/>
        </a:solidFill>
        <a:effectLst/>
      </p:bgPr>
    </p:bg>
    <p:spTree>
      <p:nvGrpSpPr>
        <p:cNvPr id="1" name=""/>
        <p:cNvGrpSpPr/>
        <p:nvPr/>
      </p:nvGrpSpPr>
      <p:grpSpPr/>
      <p:sp>
        <p:nvSpPr>
          <p:cNvPr id="2" name="TextBox 1"/>
          <p:cNvSpPr txBox="1"/>
          <p:nvPr/>
        </p:nvSpPr>
        <p:spPr>
          <a:xfrm>
            <a:off x="548640" y="365760"/>
            <a:ext cx="9144000" cy="274320"/>
          </a:xfrm>
          <a:prstGeom prst="rect">
            <a:avLst/>
          </a:prstGeom>
          <a:noFill/>
        </p:spPr>
        <p:txBody>
          <a:bodyPr wrap="none" lIns="0" rIns="0" tIns="0" bIns="0">
            <a:spAutoFit/>
          </a:bodyPr>
          <a:lstStyle/>
          <a:p>
            <a:pPr>
              <a:lnSpc>
                <a:spcPct val="113000"/>
              </a:lnSpc>
              <a:spcAft>
                <a:spcPts val="0"/>
              </a:spcAft>
              <a:defRPr sz="1000" b="1">
                <a:solidFill>
                  <a:srgbClr val="7A8C6D"/>
                </a:solidFill>
                <a:latin typeface="DejaVu Sans"/>
              </a:defRPr>
            </a:pPr>
            <a:r>
              <a:t>longview / EVIDENCE BEFORE THE HEADLINE</a:t>
            </a:r>
          </a:p>
        </p:txBody>
      </p:sp>
      <p:sp>
        <p:nvSpPr>
          <p:cNvPr id="3" name="TextBox 2"/>
          <p:cNvSpPr txBox="1"/>
          <p:nvPr/>
        </p:nvSpPr>
        <p:spPr>
          <a:xfrm>
            <a:off x="548640" y="932688"/>
            <a:ext cx="10972800" cy="731520"/>
          </a:xfrm>
          <a:prstGeom prst="rect">
            <a:avLst/>
          </a:prstGeom>
          <a:noFill/>
        </p:spPr>
        <p:txBody>
          <a:bodyPr wrap="none" lIns="0" rIns="0" tIns="0" bIns="0">
            <a:spAutoFit/>
          </a:bodyPr>
          <a:lstStyle/>
          <a:p>
            <a:pPr>
              <a:lnSpc>
                <a:spcPct val="113000"/>
              </a:lnSpc>
              <a:spcAft>
                <a:spcPts val="0"/>
              </a:spcAft>
              <a:defRPr sz="3000" b="0">
                <a:solidFill>
                  <a:srgbClr val="1B3E31"/>
                </a:solidFill>
                <a:latin typeface="DejaVu Sans"/>
              </a:defRPr>
            </a:pPr>
            <a:r>
              <a:t>The estimate waits for human review.</a:t>
            </a:r>
          </a:p>
        </p:txBody>
      </p:sp>
      <p:sp>
        <p:nvSpPr>
          <p:cNvPr id="4" name="Rounded Rectangle 3"/>
          <p:cNvSpPr/>
          <p:nvPr/>
        </p:nvSpPr>
        <p:spPr>
          <a:xfrm>
            <a:off x="548640" y="1865376"/>
            <a:ext cx="5239512" cy="3429000"/>
          </a:xfrm>
          <a:prstGeom prst="roundRect">
            <a:avLst>
              <a:gd name="adj" fmla="val 12000"/>
            </a:avLst>
          </a:prstGeom>
          <a:solidFill>
            <a:srgbClr val="E8EE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194560"/>
            <a:ext cx="4572000" cy="274320"/>
          </a:xfrm>
          <a:prstGeom prst="rect">
            <a:avLst/>
          </a:prstGeom>
          <a:noFill/>
        </p:spPr>
        <p:txBody>
          <a:bodyPr wrap="none" lIns="0" rIns="0" tIns="0" bIns="0">
            <a:spAutoFit/>
          </a:bodyPr>
          <a:lstStyle/>
          <a:p>
            <a:pPr>
              <a:lnSpc>
                <a:spcPct val="113000"/>
              </a:lnSpc>
              <a:spcAft>
                <a:spcPts val="0"/>
              </a:spcAft>
              <a:defRPr sz="1000" b="1">
                <a:solidFill>
                  <a:srgbClr val="7A8C6D"/>
                </a:solidFill>
                <a:latin typeface="DejaVu Sans"/>
              </a:defRPr>
            </a:pPr>
            <a:r>
              <a:t>FROZEN, BLINDED BENCHMARK</a:t>
            </a:r>
          </a:p>
        </p:txBody>
      </p:sp>
      <p:sp>
        <p:nvSpPr>
          <p:cNvPr id="6" name="TextBox 5"/>
          <p:cNvSpPr txBox="1"/>
          <p:nvPr/>
        </p:nvSpPr>
        <p:spPr>
          <a:xfrm>
            <a:off x="868680" y="2761488"/>
            <a:ext cx="2286000" cy="731520"/>
          </a:xfrm>
          <a:prstGeom prst="rect">
            <a:avLst/>
          </a:prstGeom>
          <a:noFill/>
        </p:spPr>
        <p:txBody>
          <a:bodyPr wrap="none" lIns="0" rIns="0" tIns="0" bIns="0">
            <a:spAutoFit/>
          </a:bodyPr>
          <a:lstStyle/>
          <a:p>
            <a:pPr>
              <a:lnSpc>
                <a:spcPct val="113000"/>
              </a:lnSpc>
              <a:spcAft>
                <a:spcPts val="0"/>
              </a:spcAft>
              <a:defRPr sz="4300" b="0">
                <a:solidFill>
                  <a:srgbClr val="426D4D"/>
                </a:solidFill>
                <a:latin typeface="DejaVu Sans"/>
              </a:defRPr>
            </a:pPr>
            <a:r>
              <a:t>≥90%</a:t>
            </a:r>
          </a:p>
        </p:txBody>
      </p:sp>
      <p:sp>
        <p:nvSpPr>
          <p:cNvPr id="7" name="TextBox 6"/>
          <p:cNvSpPr txBox="1"/>
          <p:nvPr/>
        </p:nvSpPr>
        <p:spPr>
          <a:xfrm>
            <a:off x="3310128" y="2935224"/>
            <a:ext cx="2194560" cy="457200"/>
          </a:xfrm>
          <a:prstGeom prst="rect">
            <a:avLst/>
          </a:prstGeom>
          <a:noFill/>
        </p:spPr>
        <p:txBody>
          <a:bodyPr wrap="none" lIns="0" rIns="0" tIns="0" bIns="0">
            <a:spAutoFit/>
          </a:bodyPr>
          <a:lstStyle/>
          <a:p>
            <a:pPr>
              <a:lnSpc>
                <a:spcPct val="113000"/>
              </a:lnSpc>
              <a:spcAft>
                <a:spcPts val="0"/>
              </a:spcAft>
              <a:defRPr sz="1200" b="0">
                <a:solidFill>
                  <a:srgbClr val="7A8C6D"/>
                </a:solidFill>
                <a:latin typeface="DejaVu Sans"/>
              </a:defRPr>
            </a:pPr>
            <a:r>
              <a:t>overall AND</a:t>
            </a:r>
          </a:p>
          <a:p>
            <a:pPr>
              <a:lnSpc>
                <a:spcPct val="113000"/>
              </a:lnSpc>
              <a:spcAft>
                <a:spcPts val="0"/>
              </a:spcAft>
              <a:defRPr sz="1200" b="0">
                <a:solidFill>
                  <a:srgbClr val="7A8C6D"/>
                </a:solidFill>
                <a:latin typeface="DejaVu Sans"/>
              </a:defRPr>
            </a:pPr>
            <a:r>
              <a:t>in each country</a:t>
            </a:r>
          </a:p>
        </p:txBody>
      </p:sp>
      <p:sp>
        <p:nvSpPr>
          <p:cNvPr id="8" name="TextBox 7"/>
          <p:cNvSpPr txBox="1"/>
          <p:nvPr/>
        </p:nvSpPr>
        <p:spPr>
          <a:xfrm>
            <a:off x="868680" y="3867912"/>
            <a:ext cx="4572000" cy="457200"/>
          </a:xfrm>
          <a:prstGeom prst="rect">
            <a:avLst/>
          </a:prstGeom>
          <a:noFill/>
        </p:spPr>
        <p:txBody>
          <a:bodyPr wrap="none" lIns="0" rIns="0" tIns="0" bIns="0">
            <a:spAutoFit/>
          </a:bodyPr>
          <a:lstStyle/>
          <a:p>
            <a:pPr>
              <a:lnSpc>
                <a:spcPct val="113000"/>
              </a:lnSpc>
              <a:spcAft>
                <a:spcPts val="0"/>
              </a:spcAft>
              <a:defRPr sz="2300" b="0">
                <a:solidFill>
                  <a:srgbClr val="1B3E31"/>
                </a:solidFill>
                <a:latin typeface="DejaVu Sans"/>
              </a:defRPr>
            </a:pPr>
            <a:r>
              <a:t>0 / 60 reviewed</a:t>
            </a:r>
          </a:p>
        </p:txBody>
      </p:sp>
      <p:sp>
        <p:nvSpPr>
          <p:cNvPr id="9" name="TextBox 8"/>
          <p:cNvSpPr txBox="1"/>
          <p:nvPr/>
        </p:nvSpPr>
        <p:spPr>
          <a:xfrm>
            <a:off x="868680" y="4617720"/>
            <a:ext cx="4480560" cy="411480"/>
          </a:xfrm>
          <a:prstGeom prst="rect">
            <a:avLst/>
          </a:prstGeom>
          <a:noFill/>
        </p:spPr>
        <p:txBody>
          <a:bodyPr wrap="none" lIns="0" rIns="0" tIns="0" bIns="0">
            <a:spAutoFit/>
          </a:bodyPr>
          <a:lstStyle/>
          <a:p>
            <a:pPr>
              <a:lnSpc>
                <a:spcPct val="113000"/>
              </a:lnSpc>
              <a:spcAft>
                <a:spcPts val="0"/>
              </a:spcAft>
              <a:defRPr sz="1000" b="0">
                <a:solidFill>
                  <a:srgbClr val="7A8C6D"/>
                </a:solidFill>
                <a:latin typeface="DejaVu Sans"/>
              </a:defRPr>
            </a:pPr>
            <a:r>
              <a:t>Accuracy not yet measured.</a:t>
            </a:r>
          </a:p>
          <a:p>
            <a:pPr>
              <a:lnSpc>
                <a:spcPct val="113000"/>
              </a:lnSpc>
              <a:spcAft>
                <a:spcPts val="0"/>
              </a:spcAft>
              <a:defRPr sz="1000" b="0">
                <a:solidFill>
                  <a:srgbClr val="7A8C6D"/>
                </a:solidFill>
                <a:latin typeface="DejaVu Sans"/>
              </a:defRPr>
            </a:pPr>
            <a:r>
              <a:t>Software checks do not count as human evidence.</a:t>
            </a:r>
          </a:p>
        </p:txBody>
      </p:sp>
      <p:sp>
        <p:nvSpPr>
          <p:cNvPr id="10" name="Rounded Rectangle 9"/>
          <p:cNvSpPr/>
          <p:nvPr/>
        </p:nvSpPr>
        <p:spPr>
          <a:xfrm>
            <a:off x="6016752" y="1865376"/>
            <a:ext cx="5605272" cy="3429000"/>
          </a:xfrm>
          <a:prstGeom prst="roundRect">
            <a:avLst>
              <a:gd name="adj" fmla="val 12000"/>
            </a:avLst>
          </a:prstGeom>
          <a:solidFill>
            <a:srgbClr val="FFFE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36792" y="2194560"/>
            <a:ext cx="5029200" cy="274320"/>
          </a:xfrm>
          <a:prstGeom prst="rect">
            <a:avLst/>
          </a:prstGeom>
          <a:noFill/>
        </p:spPr>
        <p:txBody>
          <a:bodyPr wrap="none" lIns="0" rIns="0" tIns="0" bIns="0">
            <a:spAutoFit/>
          </a:bodyPr>
          <a:lstStyle/>
          <a:p>
            <a:pPr>
              <a:lnSpc>
                <a:spcPct val="113000"/>
              </a:lnSpc>
              <a:spcAft>
                <a:spcPts val="0"/>
              </a:spcAft>
              <a:defRPr sz="1000" b="1">
                <a:solidFill>
                  <a:srgbClr val="7A8C6D"/>
                </a:solidFill>
                <a:latin typeface="DejaVu Sans"/>
              </a:defRPr>
            </a:pPr>
            <a:r>
              <a:t>WHAT CAN CHANGE THE ANSWER</a:t>
            </a:r>
          </a:p>
        </p:txBody>
      </p:sp>
      <p:sp>
        <p:nvSpPr>
          <p:cNvPr id="12" name="TextBox 11"/>
          <p:cNvSpPr txBox="1"/>
          <p:nvPr/>
        </p:nvSpPr>
        <p:spPr>
          <a:xfrm>
            <a:off x="6336792" y="2761488"/>
            <a:ext cx="4910328" cy="1737360"/>
          </a:xfrm>
          <a:prstGeom prst="rect">
            <a:avLst/>
          </a:prstGeom>
          <a:noFill/>
        </p:spPr>
        <p:txBody>
          <a:bodyPr wrap="none" lIns="0" rIns="0" tIns="0" bIns="0">
            <a:spAutoFit/>
          </a:bodyPr>
          <a:lstStyle/>
          <a:p>
            <a:pPr>
              <a:lnSpc>
                <a:spcPct val="113000"/>
              </a:lnSpc>
              <a:spcAft>
                <a:spcPts val="0"/>
              </a:spcAft>
              <a:defRPr sz="1300" b="0">
                <a:solidFill>
                  <a:srgbClr val="1B3E31"/>
                </a:solidFill>
                <a:latin typeface="DejaVu Sans"/>
              </a:defRPr>
            </a:pPr>
            <a:r>
              <a:t>Biology hidden under disease labels.</a:t>
            </a:r>
          </a:p>
          <a:p>
            <a:pPr>
              <a:lnSpc>
                <a:spcPct val="113000"/>
              </a:lnSpc>
              <a:spcAft>
                <a:spcPts val="0"/>
              </a:spcAft>
              <a:defRPr sz="1300" b="0">
                <a:solidFill>
                  <a:srgbClr val="1B3E31"/>
                </a:solidFill>
                <a:latin typeface="DejaVu Sans"/>
              </a:defRPr>
            </a:pPr>
            <a:r>
              <a:t>Mixed objectives in large awards.</a:t>
            </a:r>
          </a:p>
          <a:p>
            <a:pPr>
              <a:lnSpc>
                <a:spcPct val="113000"/>
              </a:lnSpc>
              <a:spcAft>
                <a:spcPts val="0"/>
              </a:spcAft>
              <a:defRPr sz="1300" b="0">
                <a:solidFill>
                  <a:srgbClr val="1B3E31"/>
                </a:solidFill>
                <a:latin typeface="DejaVu Sans"/>
              </a:defRPr>
            </a:pPr>
            <a:r>
              <a:t>Unresolved classifications and missing amounts.</a:t>
            </a:r>
          </a:p>
          <a:p>
            <a:pPr>
              <a:lnSpc>
                <a:spcPct val="113000"/>
              </a:lnSpc>
              <a:spcAft>
                <a:spcPts val="0"/>
              </a:spcAft>
              <a:defRPr sz="1300" b="0">
                <a:solidFill>
                  <a:srgbClr val="1B3E31"/>
                </a:solidFill>
                <a:latin typeface="DejaVu Sans"/>
              </a:defRPr>
            </a:pPr>
            <a:r>
              <a:t>Different portfolio and funding-period coverage.</a:t>
            </a:r>
          </a:p>
        </p:txBody>
      </p:sp>
      <p:sp>
        <p:nvSpPr>
          <p:cNvPr id="13" name="TextBox 12"/>
          <p:cNvSpPr txBox="1"/>
          <p:nvPr/>
        </p:nvSpPr>
        <p:spPr>
          <a:xfrm>
            <a:off x="6336792" y="4617720"/>
            <a:ext cx="4846320" cy="438912"/>
          </a:xfrm>
          <a:prstGeom prst="rect">
            <a:avLst/>
          </a:prstGeom>
          <a:noFill/>
        </p:spPr>
        <p:txBody>
          <a:bodyPr wrap="none" lIns="0" rIns="0" tIns="0" bIns="0">
            <a:spAutoFit/>
          </a:bodyPr>
          <a:lstStyle/>
          <a:p>
            <a:pPr>
              <a:lnSpc>
                <a:spcPct val="113000"/>
              </a:lnSpc>
              <a:spcAft>
                <a:spcPts val="0"/>
              </a:spcAft>
              <a:defRPr sz="1100" b="0">
                <a:solidFill>
                  <a:srgbClr val="7A8C6D"/>
                </a:solidFill>
                <a:latin typeface="DejaVu Sans"/>
              </a:defRPr>
            </a:pPr>
            <a:r>
              <a:t>10 large-award checks per country,</a:t>
            </a:r>
          </a:p>
          <a:p>
            <a:pPr>
              <a:lnSpc>
                <a:spcPct val="113000"/>
              </a:lnSpc>
              <a:spcAft>
                <a:spcPts val="0"/>
              </a:spcAft>
              <a:defRPr sz="1100" b="0">
                <a:solidFill>
                  <a:srgbClr val="7A8C6D"/>
                </a:solidFill>
                <a:latin typeface="DejaVu Sans"/>
              </a:defRPr>
            </a:pPr>
            <a:r>
              <a:t>plus human approval of scope and arithmetic.</a:t>
            </a:r>
          </a:p>
        </p:txBody>
      </p:sp>
      <p:sp>
        <p:nvSpPr>
          <p:cNvPr id="14" name="Rounded Rectangle 13"/>
          <p:cNvSpPr/>
          <p:nvPr/>
        </p:nvSpPr>
        <p:spPr>
          <a:xfrm>
            <a:off x="548640" y="5513832"/>
            <a:ext cx="11073384" cy="621792"/>
          </a:xfrm>
          <a:prstGeom prst="roundRect">
            <a:avLst>
              <a:gd name="adj" fmla="val 12000"/>
            </a:avLst>
          </a:prstGeom>
          <a:solidFill>
            <a:srgbClr val="EBE4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5705856"/>
            <a:ext cx="10515600" cy="320040"/>
          </a:xfrm>
          <a:prstGeom prst="rect">
            <a:avLst/>
          </a:prstGeom>
          <a:noFill/>
        </p:spPr>
        <p:txBody>
          <a:bodyPr wrap="none" lIns="0" rIns="0" tIns="0" bIns="0">
            <a:spAutoFit/>
          </a:bodyPr>
          <a:lstStyle/>
          <a:p>
            <a:pPr>
              <a:lnSpc>
                <a:spcPct val="113000"/>
              </a:lnSpc>
              <a:spcAft>
                <a:spcPts val="0"/>
              </a:spcAft>
              <a:defRPr sz="1000" b="0">
                <a:solidFill>
                  <a:srgbClr val="8A754C"/>
                </a:solidFill>
                <a:latin typeface="DejaVu Sans"/>
              </a:defRPr>
            </a:pPr>
            <a:r>
              <a:t>Next: settle the biological boundary, complete review, then test whether five readers understand the report.</a:t>
            </a:r>
          </a:p>
        </p:txBody>
      </p:sp>
      <p:cxnSp>
        <p:nvCxnSpPr>
          <p:cNvPr id="16" name="Connector 15"/>
          <p:cNvCxnSpPr/>
          <p:nvPr/>
        </p:nvCxnSpPr>
        <p:spPr>
          <a:xfrm>
            <a:off x="502920" y="6419088"/>
            <a:ext cx="11183112" cy="0"/>
          </a:xfrm>
          <a:prstGeom prst="line">
            <a:avLst/>
          </a:prstGeom>
          <a:ln w="6350">
            <a:solidFill>
              <a:srgbClr val="DCE3D2"/>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6519672"/>
            <a:ext cx="10789920" cy="182880"/>
          </a:xfrm>
          <a:prstGeom prst="rect">
            <a:avLst/>
          </a:prstGeom>
          <a:noFill/>
        </p:spPr>
        <p:txBody>
          <a:bodyPr wrap="none" lIns="0" rIns="0" tIns="0" bIns="0">
            <a:spAutoFit/>
          </a:bodyPr>
          <a:lstStyle/>
          <a:p>
            <a:pPr>
              <a:lnSpc>
                <a:spcPct val="113000"/>
              </a:lnSpc>
              <a:spcAft>
                <a:spcPts val="0"/>
              </a:spcAft>
              <a:defRPr sz="640" b="0">
                <a:solidFill>
                  <a:srgbClr val="7A8C6D"/>
                </a:solidFill>
                <a:latin typeface="DejaVu Sans"/>
              </a:defRPr>
            </a:pPr>
            <a:r>
              <a:t>Release 5377161e107b0f80 · Pending estimates stay private. No national ranking or clinical claims. Team: Selja · Max · Jan.</a:t>
            </a:r>
          </a:p>
        </p:txBody>
      </p:sp>
      <p:sp>
        <p:nvSpPr>
          <p:cNvPr id="18" name="TextBox 17"/>
          <p:cNvSpPr txBox="1"/>
          <p:nvPr/>
        </p:nvSpPr>
        <p:spPr>
          <a:xfrm>
            <a:off x="11384280" y="6492240"/>
            <a:ext cx="365760" cy="182880"/>
          </a:xfrm>
          <a:prstGeom prst="rect">
            <a:avLst/>
          </a:prstGeom>
          <a:noFill/>
        </p:spPr>
        <p:txBody>
          <a:bodyPr wrap="none" lIns="0" rIns="0" tIns="0" bIns="0">
            <a:spAutoFit/>
          </a:bodyPr>
          <a:lstStyle/>
          <a:p>
            <a:pPr>
              <a:lnSpc>
                <a:spcPct val="113000"/>
              </a:lnSpc>
              <a:spcAft>
                <a:spcPts val="0"/>
              </a:spcAft>
              <a:defRPr sz="800" b="0">
                <a:solidFill>
                  <a:srgbClr val="7A8C6D"/>
                </a:solidFill>
                <a:latin typeface="DejaVu Sans"/>
              </a:defRPr>
            </a:pPr>
            <a:r>
              <a:t>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Longview | Ageing research funding</dc:title>
  <dc:subject>Stockholm AI × Longevity Hackathon, 2026</dc:subject>
  <dc:creator>Selja, Max, Jan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