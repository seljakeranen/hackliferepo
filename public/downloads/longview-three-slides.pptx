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health ministry analyst. Team: Selja, Max, Jan. We compare Sweden, the United States and Singapore. The plotted values are official aggregate observations from the same WDI vintage. These differences motivate investigation; they do not show that a policy caused a longer life. The prototype joins a dated policy record to numerical context and explicit what-if assumptions. Source: https://data.worldbank.org/indicator/SP.DYN.LE00.IN . Research snapshot: 11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cue: select Singapore, open Policy evidence, show a source and the distinction between publication and effective dates once human review is complete. Until then, show the explicit review-pending state and the private team review page without marking anything approved. Return to outcomes, adjust PM2.5, switch to ten years, reset, then print the analyst brief. Policy records are not predictive inputs; sliders are user assumptions. The screenshot is the actual running app. Human verification is still pending in this release.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ridge model beats both baselines on the wider historical test, using model selection fixed on a pre-test validation period. Sweden, the US and Singapore were withheld from every fitting, tuning and calibration set. The US regression fails against both baselines. The displayed interval is an empirical error band: nominal 90% coverage achieved only 74.9% in the wider test. There are six overlapping historical origins per held-out country, so these are small dependent samples. The evidence requirement is different: at least 90% of the frozen initial findings must pass four human checks. At generation time no human reviews have been imported. Two supplemental funding leads are outside the initial 34-record benchmark and also require approval. The proposed adoption pilot measures source-checking time and whether analysts correctly understand conditional scenarios; no adoption benefit has been measured yet. Sources: public/release/quantitative.json; public/release/evidence.json; docs/model-evaluation.json.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TextBox 1"/>
          <p:cNvSpPr txBox="1"/>
          <p:nvPr/>
        </p:nvSpPr>
        <p:spPr>
          <a:xfrm>
            <a:off x="548640" y="320040"/>
            <a:ext cx="5486400" cy="274320"/>
          </a:xfrm>
          <a:prstGeom prst="rect">
            <a:avLst/>
          </a:prstGeom>
          <a:noFill/>
        </p:spPr>
        <p:txBody>
          <a:bodyPr wrap="none" lIns="0" rIns="0" tIns="0" bIns="0">
            <a:spAutoFit/>
          </a:bodyPr>
          <a:lstStyle/>
          <a:p>
            <a:pPr>
              <a:lnSpc>
                <a:spcPct val="113000"/>
              </a:lnSpc>
              <a:spcAft>
                <a:spcPts val="0"/>
              </a:spcAft>
              <a:defRPr sz="1000" b="1">
                <a:solidFill>
                  <a:srgbClr val="7A8C6D"/>
                </a:solidFill>
                <a:latin typeface="DejaVu Sans"/>
              </a:defRPr>
            </a:pPr>
            <a:r>
              <a:t>longview / THE POLICY QUESTION</a:t>
            </a:r>
          </a:p>
        </p:txBody>
      </p:sp>
      <p:sp>
        <p:nvSpPr>
          <p:cNvPr id="3" name="TextBox 2"/>
          <p:cNvSpPr txBox="1"/>
          <p:nvPr/>
        </p:nvSpPr>
        <p:spPr>
          <a:xfrm>
            <a:off x="548640" y="841248"/>
            <a:ext cx="10972800" cy="1097280"/>
          </a:xfrm>
          <a:prstGeom prst="rect">
            <a:avLst/>
          </a:prstGeom>
          <a:noFill/>
        </p:spPr>
        <p:txBody>
          <a:bodyPr wrap="none" lIns="0" rIns="0" tIns="0" bIns="0">
            <a:spAutoFit/>
          </a:bodyPr>
          <a:lstStyle/>
          <a:p>
            <a:pPr>
              <a:lnSpc>
                <a:spcPct val="113000"/>
              </a:lnSpc>
              <a:spcAft>
                <a:spcPts val="0"/>
              </a:spcAft>
              <a:defRPr sz="3400" b="0">
                <a:solidFill>
                  <a:srgbClr val="1B3E31"/>
                </a:solidFill>
                <a:latin typeface="DejaVu Sans"/>
              </a:defRPr>
            </a:pPr>
            <a:r>
              <a:t>Three countries.</a:t>
            </a:r>
          </a:p>
          <a:p>
            <a:pPr>
              <a:lnSpc>
                <a:spcPct val="113000"/>
              </a:lnSpc>
              <a:spcAft>
                <a:spcPts val="0"/>
              </a:spcAft>
              <a:defRPr sz="3400" b="0">
                <a:solidFill>
                  <a:srgbClr val="1B3E31"/>
                </a:solidFill>
                <a:latin typeface="DejaVu Sans"/>
              </a:defRPr>
            </a:pPr>
            <a:r>
              <a:t>Different trajectories.</a:t>
            </a:r>
          </a:p>
        </p:txBody>
      </p:sp>
      <p:sp>
        <p:nvSpPr>
          <p:cNvPr id="4" name="TextBox 3"/>
          <p:cNvSpPr txBox="1"/>
          <p:nvPr/>
        </p:nvSpPr>
        <p:spPr>
          <a:xfrm>
            <a:off x="566928" y="2148840"/>
            <a:ext cx="3657600" cy="1097280"/>
          </a:xfrm>
          <a:prstGeom prst="rect">
            <a:avLst/>
          </a:prstGeom>
          <a:noFill/>
        </p:spPr>
        <p:txBody>
          <a:bodyPr wrap="none" lIns="0" rIns="0" tIns="0" bIns="0">
            <a:spAutoFit/>
          </a:bodyPr>
          <a:lstStyle/>
          <a:p>
            <a:pPr>
              <a:lnSpc>
                <a:spcPct val="113000"/>
              </a:lnSpc>
              <a:spcAft>
                <a:spcPts val="0"/>
              </a:spcAft>
              <a:defRPr sz="1400" b="0">
                <a:solidFill>
                  <a:srgbClr val="7A8C6D"/>
                </a:solidFill>
                <a:latin typeface="DejaVu Sans"/>
              </a:defRPr>
            </a:pPr>
            <a:r>
              <a:t>A health ministry analyst needs to know</a:t>
            </a:r>
          </a:p>
          <a:p>
            <a:pPr>
              <a:lnSpc>
                <a:spcPct val="113000"/>
              </a:lnSpc>
              <a:spcAft>
                <a:spcPts val="0"/>
              </a:spcAft>
              <a:defRPr sz="1400" b="0">
                <a:solidFill>
                  <a:srgbClr val="7A8C6D"/>
                </a:solidFill>
                <a:latin typeface="DejaVu Sans"/>
              </a:defRPr>
            </a:pPr>
            <a:r>
              <a:t>what was proposed, what was funded,</a:t>
            </a:r>
          </a:p>
          <a:p>
            <a:pPr>
              <a:lnSpc>
                <a:spcPct val="113000"/>
              </a:lnSpc>
              <a:spcAft>
                <a:spcPts val="0"/>
              </a:spcAft>
              <a:defRPr sz="1400" b="0">
                <a:solidFill>
                  <a:srgbClr val="7A8C6D"/>
                </a:solidFill>
                <a:latin typeface="DejaVu Sans"/>
              </a:defRPr>
            </a:pPr>
            <a:r>
              <a:t>and which assumptions deserve testing.</a:t>
            </a:r>
          </a:p>
        </p:txBody>
      </p:sp>
      <p:sp>
        <p:nvSpPr>
          <p:cNvPr id="5" name="Rounded Rectangle 4"/>
          <p:cNvSpPr/>
          <p:nvPr/>
        </p:nvSpPr>
        <p:spPr>
          <a:xfrm>
            <a:off x="566928" y="3675888"/>
            <a:ext cx="64008" cy="347472"/>
          </a:xfrm>
          <a:prstGeom prst="roundRect">
            <a:avLst>
              <a:gd name="adj" fmla="val 12000"/>
            </a:avLst>
          </a:prstGeom>
          <a:solidFill>
            <a:srgbClr val="3F8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611880"/>
            <a:ext cx="1828800" cy="228600"/>
          </a:xfrm>
          <a:prstGeom prst="rect">
            <a:avLst/>
          </a:prstGeom>
          <a:noFill/>
        </p:spPr>
        <p:txBody>
          <a:bodyPr wrap="none" lIns="0" rIns="0" tIns="0" bIns="0">
            <a:spAutoFit/>
          </a:bodyPr>
          <a:lstStyle/>
          <a:p>
            <a:pPr>
              <a:lnSpc>
                <a:spcPct val="113000"/>
              </a:lnSpc>
              <a:spcAft>
                <a:spcPts val="0"/>
              </a:spcAft>
              <a:defRPr sz="1200" b="1">
                <a:solidFill>
                  <a:srgbClr val="1B3E31"/>
                </a:solidFill>
                <a:latin typeface="DejaVu Sans"/>
              </a:defRPr>
            </a:pPr>
            <a:r>
              <a:t>Sweden</a:t>
            </a:r>
          </a:p>
        </p:txBody>
      </p:sp>
      <p:sp>
        <p:nvSpPr>
          <p:cNvPr id="7" name="TextBox 6"/>
          <p:cNvSpPr txBox="1"/>
          <p:nvPr/>
        </p:nvSpPr>
        <p:spPr>
          <a:xfrm>
            <a:off x="2816352" y="3538728"/>
            <a:ext cx="914400" cy="365760"/>
          </a:xfrm>
          <a:prstGeom prst="rect">
            <a:avLst/>
          </a:prstGeom>
          <a:noFill/>
        </p:spPr>
        <p:txBody>
          <a:bodyPr wrap="none" lIns="0" rIns="0" tIns="0" bIns="0">
            <a:spAutoFit/>
          </a:bodyPr>
          <a:lstStyle/>
          <a:p>
            <a:pPr>
              <a:lnSpc>
                <a:spcPct val="113000"/>
              </a:lnSpc>
              <a:spcAft>
                <a:spcPts val="0"/>
              </a:spcAft>
              <a:defRPr sz="2500" b="0">
                <a:solidFill>
                  <a:srgbClr val="3F8D77"/>
                </a:solidFill>
                <a:latin typeface="DejaVu Sans"/>
              </a:defRPr>
            </a:pPr>
            <a:r>
              <a:t>84.1</a:t>
            </a:r>
          </a:p>
        </p:txBody>
      </p:sp>
      <p:sp>
        <p:nvSpPr>
          <p:cNvPr id="8" name="TextBox 7"/>
          <p:cNvSpPr txBox="1"/>
          <p:nvPr/>
        </p:nvSpPr>
        <p:spPr>
          <a:xfrm>
            <a:off x="3703320" y="3712464"/>
            <a:ext cx="457200" cy="182880"/>
          </a:xfrm>
          <a:prstGeom prst="rect">
            <a:avLst/>
          </a:prstGeom>
          <a:noFill/>
        </p:spPr>
        <p:txBody>
          <a:bodyPr wrap="none" lIns="0" rIns="0" tIns="0" bIns="0">
            <a:spAutoFit/>
          </a:bodyPr>
          <a:lstStyle/>
          <a:p>
            <a:pPr>
              <a:lnSpc>
                <a:spcPct val="113000"/>
              </a:lnSpc>
              <a:spcAft>
                <a:spcPts val="0"/>
              </a:spcAft>
              <a:defRPr sz="800" b="0">
                <a:solidFill>
                  <a:srgbClr val="7A8C6D"/>
                </a:solidFill>
                <a:latin typeface="DejaVu Sans"/>
              </a:defRPr>
            </a:pPr>
            <a:r>
              <a:t>years</a:t>
            </a:r>
          </a:p>
        </p:txBody>
      </p:sp>
      <p:sp>
        <p:nvSpPr>
          <p:cNvPr id="9" name="Rounded Rectangle 8"/>
          <p:cNvSpPr/>
          <p:nvPr/>
        </p:nvSpPr>
        <p:spPr>
          <a:xfrm>
            <a:off x="566928" y="4334256"/>
            <a:ext cx="64008" cy="347472"/>
          </a:xfrm>
          <a:prstGeom prst="roundRect">
            <a:avLst>
              <a:gd name="adj" fmla="val 12000"/>
            </a:avLst>
          </a:prstGeom>
          <a:solidFill>
            <a:srgbClr val="6F7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270248"/>
            <a:ext cx="1828800" cy="228600"/>
          </a:xfrm>
          <a:prstGeom prst="rect">
            <a:avLst/>
          </a:prstGeom>
          <a:noFill/>
        </p:spPr>
        <p:txBody>
          <a:bodyPr wrap="none" lIns="0" rIns="0" tIns="0" bIns="0">
            <a:spAutoFit/>
          </a:bodyPr>
          <a:lstStyle/>
          <a:p>
            <a:pPr>
              <a:lnSpc>
                <a:spcPct val="113000"/>
              </a:lnSpc>
              <a:spcAft>
                <a:spcPts val="0"/>
              </a:spcAft>
              <a:defRPr sz="1200" b="1">
                <a:solidFill>
                  <a:srgbClr val="1B3E31"/>
                </a:solidFill>
                <a:latin typeface="DejaVu Sans"/>
              </a:defRPr>
            </a:pPr>
            <a:r>
              <a:t>United States</a:t>
            </a:r>
          </a:p>
        </p:txBody>
      </p:sp>
      <p:sp>
        <p:nvSpPr>
          <p:cNvPr id="11" name="TextBox 10"/>
          <p:cNvSpPr txBox="1"/>
          <p:nvPr/>
        </p:nvSpPr>
        <p:spPr>
          <a:xfrm>
            <a:off x="2816352" y="4197096"/>
            <a:ext cx="914400" cy="365760"/>
          </a:xfrm>
          <a:prstGeom prst="rect">
            <a:avLst/>
          </a:prstGeom>
          <a:noFill/>
        </p:spPr>
        <p:txBody>
          <a:bodyPr wrap="none" lIns="0" rIns="0" tIns="0" bIns="0">
            <a:spAutoFit/>
          </a:bodyPr>
          <a:lstStyle/>
          <a:p>
            <a:pPr>
              <a:lnSpc>
                <a:spcPct val="113000"/>
              </a:lnSpc>
              <a:spcAft>
                <a:spcPts val="0"/>
              </a:spcAft>
              <a:defRPr sz="2500" b="0">
                <a:solidFill>
                  <a:srgbClr val="6F79B6"/>
                </a:solidFill>
                <a:latin typeface="DejaVu Sans"/>
              </a:defRPr>
            </a:pPr>
            <a:r>
              <a:t>78.9</a:t>
            </a:r>
          </a:p>
        </p:txBody>
      </p:sp>
      <p:sp>
        <p:nvSpPr>
          <p:cNvPr id="12" name="TextBox 11"/>
          <p:cNvSpPr txBox="1"/>
          <p:nvPr/>
        </p:nvSpPr>
        <p:spPr>
          <a:xfrm>
            <a:off x="3703320" y="4370832"/>
            <a:ext cx="457200" cy="182880"/>
          </a:xfrm>
          <a:prstGeom prst="rect">
            <a:avLst/>
          </a:prstGeom>
          <a:noFill/>
        </p:spPr>
        <p:txBody>
          <a:bodyPr wrap="none" lIns="0" rIns="0" tIns="0" bIns="0">
            <a:spAutoFit/>
          </a:bodyPr>
          <a:lstStyle/>
          <a:p>
            <a:pPr>
              <a:lnSpc>
                <a:spcPct val="113000"/>
              </a:lnSpc>
              <a:spcAft>
                <a:spcPts val="0"/>
              </a:spcAft>
              <a:defRPr sz="800" b="0">
                <a:solidFill>
                  <a:srgbClr val="7A8C6D"/>
                </a:solidFill>
                <a:latin typeface="DejaVu Sans"/>
              </a:defRPr>
            </a:pPr>
            <a:r>
              <a:t>years</a:t>
            </a:r>
          </a:p>
        </p:txBody>
      </p:sp>
      <p:sp>
        <p:nvSpPr>
          <p:cNvPr id="13" name="Rounded Rectangle 12"/>
          <p:cNvSpPr/>
          <p:nvPr/>
        </p:nvSpPr>
        <p:spPr>
          <a:xfrm>
            <a:off x="566928" y="4992624"/>
            <a:ext cx="64008" cy="347472"/>
          </a:xfrm>
          <a:prstGeom prst="roundRect">
            <a:avLst>
              <a:gd name="adj" fmla="val 12000"/>
            </a:avLst>
          </a:prstGeom>
          <a:solidFill>
            <a:srgbClr val="D3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928616"/>
            <a:ext cx="1828800" cy="228600"/>
          </a:xfrm>
          <a:prstGeom prst="rect">
            <a:avLst/>
          </a:prstGeom>
          <a:noFill/>
        </p:spPr>
        <p:txBody>
          <a:bodyPr wrap="none" lIns="0" rIns="0" tIns="0" bIns="0">
            <a:spAutoFit/>
          </a:bodyPr>
          <a:lstStyle/>
          <a:p>
            <a:pPr>
              <a:lnSpc>
                <a:spcPct val="113000"/>
              </a:lnSpc>
              <a:spcAft>
                <a:spcPts val="0"/>
              </a:spcAft>
              <a:defRPr sz="1200" b="1">
                <a:solidFill>
                  <a:srgbClr val="1B3E31"/>
                </a:solidFill>
                <a:latin typeface="DejaVu Sans"/>
              </a:defRPr>
            </a:pPr>
            <a:r>
              <a:t>Singapore</a:t>
            </a:r>
          </a:p>
        </p:txBody>
      </p:sp>
      <p:sp>
        <p:nvSpPr>
          <p:cNvPr id="15" name="TextBox 14"/>
          <p:cNvSpPr txBox="1"/>
          <p:nvPr/>
        </p:nvSpPr>
        <p:spPr>
          <a:xfrm>
            <a:off x="2816352" y="4855464"/>
            <a:ext cx="914400" cy="365760"/>
          </a:xfrm>
          <a:prstGeom prst="rect">
            <a:avLst/>
          </a:prstGeom>
          <a:noFill/>
        </p:spPr>
        <p:txBody>
          <a:bodyPr wrap="none" lIns="0" rIns="0" tIns="0" bIns="0">
            <a:spAutoFit/>
          </a:bodyPr>
          <a:lstStyle/>
          <a:p>
            <a:pPr>
              <a:lnSpc>
                <a:spcPct val="113000"/>
              </a:lnSpc>
              <a:spcAft>
                <a:spcPts val="0"/>
              </a:spcAft>
              <a:defRPr sz="2500" b="0">
                <a:solidFill>
                  <a:srgbClr val="D38B4E"/>
                </a:solidFill>
                <a:latin typeface="DejaVu Sans"/>
              </a:defRPr>
            </a:pPr>
            <a:r>
              <a:t>83.3</a:t>
            </a:r>
          </a:p>
        </p:txBody>
      </p:sp>
      <p:sp>
        <p:nvSpPr>
          <p:cNvPr id="16" name="TextBox 15"/>
          <p:cNvSpPr txBox="1"/>
          <p:nvPr/>
        </p:nvSpPr>
        <p:spPr>
          <a:xfrm>
            <a:off x="3703320" y="5029200"/>
            <a:ext cx="457200" cy="182880"/>
          </a:xfrm>
          <a:prstGeom prst="rect">
            <a:avLst/>
          </a:prstGeom>
          <a:noFill/>
        </p:spPr>
        <p:txBody>
          <a:bodyPr wrap="none" lIns="0" rIns="0" tIns="0" bIns="0">
            <a:spAutoFit/>
          </a:bodyPr>
          <a:lstStyle/>
          <a:p>
            <a:pPr>
              <a:lnSpc>
                <a:spcPct val="113000"/>
              </a:lnSpc>
              <a:spcAft>
                <a:spcPts val="0"/>
              </a:spcAft>
              <a:defRPr sz="800" b="0">
                <a:solidFill>
                  <a:srgbClr val="7A8C6D"/>
                </a:solidFill>
                <a:latin typeface="DejaVu Sans"/>
              </a:defRPr>
            </a:pPr>
            <a:r>
              <a:t>years</a:t>
            </a:r>
          </a:p>
        </p:txBody>
      </p:sp>
      <p:sp>
        <p:nvSpPr>
          <p:cNvPr id="17" name="TextBox 16"/>
          <p:cNvSpPr txBox="1"/>
          <p:nvPr/>
        </p:nvSpPr>
        <p:spPr>
          <a:xfrm>
            <a:off x="777240" y="5687568"/>
            <a:ext cx="3200400" cy="274320"/>
          </a:xfrm>
          <a:prstGeom prst="rect">
            <a:avLst/>
          </a:prstGeom>
          <a:noFill/>
        </p:spPr>
        <p:txBody>
          <a:bodyPr wrap="none" lIns="0" rIns="0" tIns="0" bIns="0">
            <a:spAutoFit/>
          </a:bodyPr>
          <a:lstStyle/>
          <a:p>
            <a:pPr>
              <a:lnSpc>
                <a:spcPct val="113000"/>
              </a:lnSpc>
              <a:spcAft>
                <a:spcPts val="0"/>
              </a:spcAft>
              <a:defRPr sz="900" b="0">
                <a:solidFill>
                  <a:srgbClr val="7A8C6D"/>
                </a:solidFill>
                <a:latin typeface="DejaVu Sans"/>
              </a:defRPr>
            </a:pPr>
            <a:r>
              <a:t>Life expectancy at birth · 2024</a:t>
            </a:r>
          </a:p>
        </p:txBody>
      </p:sp>
      <p:sp>
        <p:nvSpPr>
          <p:cNvPr id="18" name="Rounded Rectangle 17"/>
          <p:cNvSpPr/>
          <p:nvPr/>
        </p:nvSpPr>
        <p:spPr>
          <a:xfrm>
            <a:off x="4572000" y="2240280"/>
            <a:ext cx="7040880" cy="3767328"/>
          </a:xfrm>
          <a:prstGeom prst="roundRect">
            <a:avLst>
              <a:gd name="adj" fmla="val 12000"/>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92040" y="2514600"/>
            <a:ext cx="6217920" cy="274320"/>
          </a:xfrm>
          <a:prstGeom prst="rect">
            <a:avLst/>
          </a:prstGeom>
          <a:noFill/>
        </p:spPr>
        <p:txBody>
          <a:bodyPr wrap="none" lIns="0" rIns="0" tIns="0" bIns="0">
            <a:spAutoFit/>
          </a:bodyPr>
          <a:lstStyle/>
          <a:p>
            <a:pPr>
              <a:lnSpc>
                <a:spcPct val="113000"/>
              </a:lnSpc>
              <a:spcAft>
                <a:spcPts val="0"/>
              </a:spcAft>
              <a:defRPr sz="1200" b="1">
                <a:solidFill>
                  <a:srgbClr val="1B3E31"/>
                </a:solidFill>
                <a:latin typeface="DejaVu Sans"/>
              </a:defRPr>
            </a:pPr>
            <a:r>
              <a:t>Observed life expectancy, 1995–2024</a:t>
            </a:r>
          </a:p>
        </p:txBody>
      </p:sp>
      <p:cxnSp>
        <p:nvCxnSpPr>
          <p:cNvPr id="20" name="Connector 19"/>
          <p:cNvCxnSpPr/>
          <p:nvPr/>
        </p:nvCxnSpPr>
        <p:spPr>
          <a:xfrm>
            <a:off x="5074920" y="5468112"/>
            <a:ext cx="6117336" cy="0"/>
          </a:xfrm>
          <a:prstGeom prst="line">
            <a:avLst/>
          </a:prstGeom>
          <a:ln w="6985">
            <a:solidFill>
              <a:srgbClr val="DCE3D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709160" y="5404104"/>
            <a:ext cx="274320" cy="137160"/>
          </a:xfrm>
          <a:prstGeom prst="rect">
            <a:avLst/>
          </a:prstGeom>
          <a:noFill/>
        </p:spPr>
        <p:txBody>
          <a:bodyPr wrap="none" lIns="0" rIns="0" tIns="0" bIns="0">
            <a:spAutoFit/>
          </a:bodyPr>
          <a:lstStyle/>
          <a:p>
            <a:pPr>
              <a:lnSpc>
                <a:spcPct val="113000"/>
              </a:lnSpc>
              <a:spcAft>
                <a:spcPts val="0"/>
              </a:spcAft>
              <a:defRPr sz="700" b="0">
                <a:solidFill>
                  <a:srgbClr val="7A8C6D"/>
                </a:solidFill>
                <a:latin typeface="DejaVu Sans"/>
              </a:defRPr>
            </a:pPr>
            <a:r>
              <a:t>74</a:t>
            </a:r>
          </a:p>
        </p:txBody>
      </p:sp>
      <p:cxnSp>
        <p:nvCxnSpPr>
          <p:cNvPr id="22" name="Connector 21"/>
          <p:cNvCxnSpPr/>
          <p:nvPr/>
        </p:nvCxnSpPr>
        <p:spPr>
          <a:xfrm>
            <a:off x="5074920" y="4696968"/>
            <a:ext cx="6117336" cy="0"/>
          </a:xfrm>
          <a:prstGeom prst="line">
            <a:avLst/>
          </a:prstGeom>
          <a:ln w="6985">
            <a:solidFill>
              <a:srgbClr val="DCE3D2"/>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709160" y="4632960"/>
            <a:ext cx="274320" cy="137160"/>
          </a:xfrm>
          <a:prstGeom prst="rect">
            <a:avLst/>
          </a:prstGeom>
          <a:noFill/>
        </p:spPr>
        <p:txBody>
          <a:bodyPr wrap="none" lIns="0" rIns="0" tIns="0" bIns="0">
            <a:spAutoFit/>
          </a:bodyPr>
          <a:lstStyle/>
          <a:p>
            <a:pPr>
              <a:lnSpc>
                <a:spcPct val="113000"/>
              </a:lnSpc>
              <a:spcAft>
                <a:spcPts val="0"/>
              </a:spcAft>
              <a:defRPr sz="700" b="0">
                <a:solidFill>
                  <a:srgbClr val="7A8C6D"/>
                </a:solidFill>
                <a:latin typeface="DejaVu Sans"/>
              </a:defRPr>
            </a:pPr>
            <a:r>
              <a:t>78</a:t>
            </a:r>
          </a:p>
        </p:txBody>
      </p:sp>
      <p:cxnSp>
        <p:nvCxnSpPr>
          <p:cNvPr id="24" name="Connector 23"/>
          <p:cNvCxnSpPr/>
          <p:nvPr/>
        </p:nvCxnSpPr>
        <p:spPr>
          <a:xfrm>
            <a:off x="5074920" y="3925824"/>
            <a:ext cx="6117336" cy="0"/>
          </a:xfrm>
          <a:prstGeom prst="line">
            <a:avLst/>
          </a:prstGeom>
          <a:ln w="6985">
            <a:solidFill>
              <a:srgbClr val="DCE3D2"/>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709160" y="3861816"/>
            <a:ext cx="274320" cy="137160"/>
          </a:xfrm>
          <a:prstGeom prst="rect">
            <a:avLst/>
          </a:prstGeom>
          <a:noFill/>
        </p:spPr>
        <p:txBody>
          <a:bodyPr wrap="none" lIns="0" rIns="0" tIns="0" bIns="0">
            <a:spAutoFit/>
          </a:bodyPr>
          <a:lstStyle/>
          <a:p>
            <a:pPr>
              <a:lnSpc>
                <a:spcPct val="113000"/>
              </a:lnSpc>
              <a:spcAft>
                <a:spcPts val="0"/>
              </a:spcAft>
              <a:defRPr sz="700" b="0">
                <a:solidFill>
                  <a:srgbClr val="7A8C6D"/>
                </a:solidFill>
                <a:latin typeface="DejaVu Sans"/>
              </a:defRPr>
            </a:pPr>
            <a:r>
              <a:t>82</a:t>
            </a:r>
          </a:p>
        </p:txBody>
      </p:sp>
      <p:cxnSp>
        <p:nvCxnSpPr>
          <p:cNvPr id="26" name="Connector 25"/>
          <p:cNvCxnSpPr/>
          <p:nvPr/>
        </p:nvCxnSpPr>
        <p:spPr>
          <a:xfrm>
            <a:off x="5074920" y="3154680"/>
            <a:ext cx="6117336" cy="0"/>
          </a:xfrm>
          <a:prstGeom prst="line">
            <a:avLst/>
          </a:prstGeom>
          <a:ln w="6985">
            <a:solidFill>
              <a:srgbClr val="DCE3D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709160" y="3090672"/>
            <a:ext cx="274320" cy="137160"/>
          </a:xfrm>
          <a:prstGeom prst="rect">
            <a:avLst/>
          </a:prstGeom>
          <a:noFill/>
        </p:spPr>
        <p:txBody>
          <a:bodyPr wrap="none" lIns="0" rIns="0" tIns="0" bIns="0">
            <a:spAutoFit/>
          </a:bodyPr>
          <a:lstStyle/>
          <a:p>
            <a:pPr>
              <a:lnSpc>
                <a:spcPct val="113000"/>
              </a:lnSpc>
              <a:spcAft>
                <a:spcPts val="0"/>
              </a:spcAft>
              <a:defRPr sz="700" b="0">
                <a:solidFill>
                  <a:srgbClr val="7A8C6D"/>
                </a:solidFill>
                <a:latin typeface="DejaVu Sans"/>
              </a:defRPr>
            </a:pPr>
            <a:r>
              <a:t>86</a:t>
            </a:r>
          </a:p>
        </p:txBody>
      </p:sp>
      <p:sp>
        <p:nvSpPr>
          <p:cNvPr id="28" name="TextBox 27"/>
          <p:cNvSpPr txBox="1"/>
          <p:nvPr/>
        </p:nvSpPr>
        <p:spPr>
          <a:xfrm>
            <a:off x="4910328" y="5577840"/>
            <a:ext cx="548640" cy="182880"/>
          </a:xfrm>
          <a:prstGeom prst="rect">
            <a:avLst/>
          </a:prstGeom>
          <a:noFill/>
        </p:spPr>
        <p:txBody>
          <a:bodyPr wrap="none" lIns="0" rIns="0" tIns="0" bIns="0">
            <a:spAutoFit/>
          </a:bodyPr>
          <a:lstStyle/>
          <a:p>
            <a:pPr>
              <a:lnSpc>
                <a:spcPct val="113000"/>
              </a:lnSpc>
              <a:spcAft>
                <a:spcPts val="0"/>
              </a:spcAft>
              <a:defRPr sz="700" b="0">
                <a:solidFill>
                  <a:srgbClr val="7A8C6D"/>
                </a:solidFill>
                <a:latin typeface="DejaVu Sans"/>
              </a:defRPr>
            </a:pPr>
            <a:r>
              <a:t>1995</a:t>
            </a:r>
          </a:p>
        </p:txBody>
      </p:sp>
      <p:sp>
        <p:nvSpPr>
          <p:cNvPr id="29" name="TextBox 28"/>
          <p:cNvSpPr txBox="1"/>
          <p:nvPr/>
        </p:nvSpPr>
        <p:spPr>
          <a:xfrm>
            <a:off x="7019754" y="5577840"/>
            <a:ext cx="548640" cy="182880"/>
          </a:xfrm>
          <a:prstGeom prst="rect">
            <a:avLst/>
          </a:prstGeom>
          <a:noFill/>
        </p:spPr>
        <p:txBody>
          <a:bodyPr wrap="none" lIns="0" rIns="0" tIns="0" bIns="0">
            <a:spAutoFit/>
          </a:bodyPr>
          <a:lstStyle/>
          <a:p>
            <a:pPr>
              <a:lnSpc>
                <a:spcPct val="113000"/>
              </a:lnSpc>
              <a:spcAft>
                <a:spcPts val="0"/>
              </a:spcAft>
              <a:defRPr sz="700" b="0">
                <a:solidFill>
                  <a:srgbClr val="7A8C6D"/>
                </a:solidFill>
                <a:latin typeface="DejaVu Sans"/>
              </a:defRPr>
            </a:pPr>
            <a:r>
              <a:t>2005</a:t>
            </a:r>
          </a:p>
        </p:txBody>
      </p:sp>
      <p:sp>
        <p:nvSpPr>
          <p:cNvPr id="30" name="TextBox 29"/>
          <p:cNvSpPr txBox="1"/>
          <p:nvPr/>
        </p:nvSpPr>
        <p:spPr>
          <a:xfrm>
            <a:off x="9129180" y="5577840"/>
            <a:ext cx="548640" cy="182880"/>
          </a:xfrm>
          <a:prstGeom prst="rect">
            <a:avLst/>
          </a:prstGeom>
          <a:noFill/>
        </p:spPr>
        <p:txBody>
          <a:bodyPr wrap="none" lIns="0" rIns="0" tIns="0" bIns="0">
            <a:spAutoFit/>
          </a:bodyPr>
          <a:lstStyle/>
          <a:p>
            <a:pPr>
              <a:lnSpc>
                <a:spcPct val="113000"/>
              </a:lnSpc>
              <a:spcAft>
                <a:spcPts val="0"/>
              </a:spcAft>
              <a:defRPr sz="700" b="0">
                <a:solidFill>
                  <a:srgbClr val="7A8C6D"/>
                </a:solidFill>
                <a:latin typeface="DejaVu Sans"/>
              </a:defRPr>
            </a:pPr>
            <a:r>
              <a:t>2015</a:t>
            </a:r>
          </a:p>
        </p:txBody>
      </p:sp>
      <p:sp>
        <p:nvSpPr>
          <p:cNvPr id="31" name="TextBox 30"/>
          <p:cNvSpPr txBox="1"/>
          <p:nvPr/>
        </p:nvSpPr>
        <p:spPr>
          <a:xfrm>
            <a:off x="11027664" y="5577840"/>
            <a:ext cx="548640" cy="182880"/>
          </a:xfrm>
          <a:prstGeom prst="rect">
            <a:avLst/>
          </a:prstGeom>
          <a:noFill/>
        </p:spPr>
        <p:txBody>
          <a:bodyPr wrap="none" lIns="0" rIns="0" tIns="0" bIns="0">
            <a:spAutoFit/>
          </a:bodyPr>
          <a:lstStyle/>
          <a:p>
            <a:pPr>
              <a:lnSpc>
                <a:spcPct val="113000"/>
              </a:lnSpc>
              <a:spcAft>
                <a:spcPts val="0"/>
              </a:spcAft>
              <a:defRPr sz="700" b="0">
                <a:solidFill>
                  <a:srgbClr val="7A8C6D"/>
                </a:solidFill>
                <a:latin typeface="DejaVu Sans"/>
              </a:defRPr>
            </a:pPr>
            <a:r>
              <a:t>2024</a:t>
            </a:r>
          </a:p>
        </p:txBody>
      </p:sp>
      <p:cxnSp>
        <p:nvCxnSpPr>
          <p:cNvPr id="32" name="Connector 31"/>
          <p:cNvCxnSpPr/>
          <p:nvPr/>
        </p:nvCxnSpPr>
        <p:spPr>
          <a:xfrm flipV="1">
            <a:off x="5074920" y="4512081"/>
            <a:ext cx="210942" cy="42131"/>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5285862" y="4466095"/>
            <a:ext cx="210943" cy="45986"/>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5496805" y="4438822"/>
            <a:ext cx="210942" cy="27273"/>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5707747" y="4419074"/>
            <a:ext cx="210943" cy="19748"/>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5918690" y="4380046"/>
            <a:ext cx="210943" cy="39028"/>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129633" y="4350893"/>
            <a:ext cx="210942" cy="29153"/>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6340575" y="4341019"/>
            <a:ext cx="210943" cy="9874"/>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6551518" y="4293057"/>
            <a:ext cx="210942" cy="47962"/>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6762460" y="4215473"/>
            <a:ext cx="210943" cy="77584"/>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6973403" y="4206069"/>
            <a:ext cx="210943" cy="9404"/>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7184346" y="4167041"/>
            <a:ext cx="210942" cy="39028"/>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395288" y="4137888"/>
            <a:ext cx="210943" cy="29153"/>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606231" y="4099331"/>
            <a:ext cx="210943" cy="38557"/>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7817174" y="4050899"/>
            <a:ext cx="210942" cy="48432"/>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8028116" y="4031621"/>
            <a:ext cx="210943" cy="19278"/>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239059" y="3963910"/>
            <a:ext cx="210942" cy="67711"/>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450001" y="3963910"/>
            <a:ext cx="210943" cy="18809"/>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660944" y="3934287"/>
            <a:ext cx="210943" cy="48432"/>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8871887" y="3876922"/>
            <a:ext cx="210942" cy="57365"/>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9082829" y="3876922"/>
            <a:ext cx="210943" cy="9404"/>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9293772" y="3866577"/>
            <a:ext cx="210943" cy="19749"/>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9504715" y="3846828"/>
            <a:ext cx="210942" cy="19749"/>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9715657" y="3818145"/>
            <a:ext cx="210943" cy="28683"/>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9926600" y="3711878"/>
            <a:ext cx="210942" cy="106267"/>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137542" y="3711878"/>
            <a:ext cx="210943" cy="145295"/>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10348485" y="3722223"/>
            <a:ext cx="210943" cy="134950"/>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10559428" y="3721752"/>
            <a:ext cx="210942" cy="471"/>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10770370" y="3673321"/>
            <a:ext cx="210943" cy="48431"/>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10981313" y="3528026"/>
            <a:ext cx="210943" cy="145295"/>
          </a:xfrm>
          <a:prstGeom prst="line">
            <a:avLst/>
          </a:prstGeom>
          <a:ln w="25400">
            <a:solidFill>
              <a:srgbClr val="3F8D77"/>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074920" y="5077367"/>
            <a:ext cx="210942" cy="78055"/>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285862" y="4999783"/>
            <a:ext cx="210943" cy="77584"/>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496805" y="4970630"/>
            <a:ext cx="210942" cy="29153"/>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707747" y="4970159"/>
            <a:ext cx="210943" cy="471"/>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918690" y="4959815"/>
            <a:ext cx="210943" cy="10344"/>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6129633" y="4921258"/>
            <a:ext cx="210942" cy="38557"/>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6340575" y="4901979"/>
            <a:ext cx="210943" cy="19279"/>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6551518" y="4882700"/>
            <a:ext cx="210942" cy="19279"/>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6762460" y="4795712"/>
            <a:ext cx="210943" cy="86988"/>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973403" y="4795712"/>
            <a:ext cx="210943" cy="0"/>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7184346" y="4757154"/>
            <a:ext cx="210942" cy="38558"/>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7395288" y="4699319"/>
            <a:ext cx="210943" cy="57835"/>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7606231" y="4689444"/>
            <a:ext cx="210943" cy="9875"/>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7817174" y="4621734"/>
            <a:ext cx="210942" cy="67710"/>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8028116" y="4592581"/>
            <a:ext cx="210943" cy="29153"/>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8239059" y="4573302"/>
            <a:ext cx="210942" cy="19279"/>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8450001" y="4554024"/>
            <a:ext cx="210943" cy="19278"/>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660944" y="4554024"/>
            <a:ext cx="210943" cy="0"/>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8871887" y="4534745"/>
            <a:ext cx="210942" cy="19279"/>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9082829" y="4534745"/>
            <a:ext cx="210943" cy="29153"/>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9293772" y="4563898"/>
            <a:ext cx="210943" cy="29153"/>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504715" y="4593051"/>
            <a:ext cx="210942" cy="0"/>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9715657" y="4573773"/>
            <a:ext cx="210943" cy="19278"/>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9926600" y="4545090"/>
            <a:ext cx="210942" cy="28683"/>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137542" y="4545090"/>
            <a:ext cx="210943" cy="348425"/>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348485" y="4893515"/>
            <a:ext cx="210943" cy="125546"/>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0559428" y="4806056"/>
            <a:ext cx="210942" cy="213005"/>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0770370" y="4622674"/>
            <a:ext cx="210943" cy="183382"/>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981313" y="4525341"/>
            <a:ext cx="210943" cy="97333"/>
          </a:xfrm>
          <a:prstGeom prst="line">
            <a:avLst/>
          </a:prstGeom>
          <a:ln w="25400">
            <a:solidFill>
              <a:srgbClr val="6F79B6"/>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5074920" y="4967808"/>
            <a:ext cx="210942" cy="57836"/>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5285862" y="4909502"/>
            <a:ext cx="210943" cy="58306"/>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5496805" y="4831918"/>
            <a:ext cx="210942" cy="77584"/>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5707747" y="4783486"/>
            <a:ext cx="210943" cy="48432"/>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918690" y="4706372"/>
            <a:ext cx="210943" cy="77114"/>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6129633" y="4648536"/>
            <a:ext cx="210942" cy="57836"/>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6340575" y="4590700"/>
            <a:ext cx="210943" cy="57836"/>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6551518" y="4496658"/>
            <a:ext cx="210942" cy="94042"/>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6762460" y="4409669"/>
            <a:ext cx="210943" cy="86989"/>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6973403" y="4313276"/>
            <a:ext cx="210943" cy="96393"/>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7184346" y="4284123"/>
            <a:ext cx="210942" cy="29153"/>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7395288" y="4226288"/>
            <a:ext cx="210943" cy="57835"/>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7606231" y="4159048"/>
            <a:ext cx="210943" cy="67240"/>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7817174" y="4072059"/>
            <a:ext cx="210942" cy="86989"/>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8028116" y="4014223"/>
            <a:ext cx="210943" cy="57836"/>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8239059" y="3975196"/>
            <a:ext cx="210942" cy="39027"/>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8450001" y="3926764"/>
            <a:ext cx="210943" cy="48432"/>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8660944" y="3878332"/>
            <a:ext cx="210943" cy="48432"/>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8871887" y="3830371"/>
            <a:ext cx="210942" cy="47961"/>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9082829" y="3782410"/>
            <a:ext cx="210943" cy="47961"/>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9293772" y="3762661"/>
            <a:ext cx="210943" cy="19749"/>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9504715" y="3714699"/>
            <a:ext cx="210942" cy="47962"/>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9715657" y="3675672"/>
            <a:ext cx="210943" cy="39027"/>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9926600" y="3618306"/>
            <a:ext cx="210942" cy="57366"/>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10137542" y="3618306"/>
            <a:ext cx="210943" cy="9875"/>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348485" y="3628181"/>
            <a:ext cx="210943" cy="86989"/>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559428" y="3715170"/>
            <a:ext cx="210942" cy="38087"/>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10770370" y="3714229"/>
            <a:ext cx="210943" cy="39028"/>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10981313" y="3666268"/>
            <a:ext cx="210943" cy="47961"/>
          </a:xfrm>
          <a:prstGeom prst="line">
            <a:avLst/>
          </a:prstGeom>
          <a:ln w="25400">
            <a:solidFill>
              <a:srgbClr val="D38B4E"/>
            </a:solidFill>
          </a:ln>
        </p:spPr>
        <p:style>
          <a:lnRef idx="2">
            <a:schemeClr val="accent1"/>
          </a:lnRef>
          <a:fillRef idx="0">
            <a:schemeClr val="accent1"/>
          </a:fillRef>
          <a:effectRef idx="1">
            <a:schemeClr val="accent1"/>
          </a:effectRef>
          <a:fontRef idx="minor">
            <a:schemeClr val="tx1"/>
          </a:fontRef>
        </p:style>
      </p:cxnSp>
      <p:sp>
        <p:nvSpPr>
          <p:cNvPr id="119" name="Rectangle 118"/>
          <p:cNvSpPr/>
          <p:nvPr/>
        </p:nvSpPr>
        <p:spPr>
          <a:xfrm>
            <a:off x="4983480" y="2926080"/>
            <a:ext cx="146304" cy="22860"/>
          </a:xfrm>
          <a:prstGeom prst="rect">
            <a:avLst/>
          </a:prstGeom>
          <a:solidFill>
            <a:srgbClr val="3F8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193792" y="2834640"/>
            <a:ext cx="1828800" cy="182880"/>
          </a:xfrm>
          <a:prstGeom prst="rect">
            <a:avLst/>
          </a:prstGeom>
          <a:noFill/>
        </p:spPr>
        <p:txBody>
          <a:bodyPr wrap="none" lIns="0" rIns="0" tIns="0" bIns="0">
            <a:spAutoFit/>
          </a:bodyPr>
          <a:lstStyle/>
          <a:p>
            <a:pPr>
              <a:lnSpc>
                <a:spcPct val="113000"/>
              </a:lnSpc>
              <a:spcAft>
                <a:spcPts val="0"/>
              </a:spcAft>
              <a:defRPr sz="800" b="0">
                <a:solidFill>
                  <a:srgbClr val="7A8C6D"/>
                </a:solidFill>
                <a:latin typeface="DejaVu Sans"/>
              </a:defRPr>
            </a:pPr>
            <a:r>
              <a:t>Sweden</a:t>
            </a:r>
          </a:p>
        </p:txBody>
      </p:sp>
      <p:sp>
        <p:nvSpPr>
          <p:cNvPr id="121" name="Rectangle 120"/>
          <p:cNvSpPr/>
          <p:nvPr/>
        </p:nvSpPr>
        <p:spPr>
          <a:xfrm>
            <a:off x="7086600" y="2926080"/>
            <a:ext cx="146304" cy="22860"/>
          </a:xfrm>
          <a:prstGeom prst="rect">
            <a:avLst/>
          </a:prstGeom>
          <a:solidFill>
            <a:srgbClr val="6F7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7296912" y="2834640"/>
            <a:ext cx="1828800" cy="182880"/>
          </a:xfrm>
          <a:prstGeom prst="rect">
            <a:avLst/>
          </a:prstGeom>
          <a:noFill/>
        </p:spPr>
        <p:txBody>
          <a:bodyPr wrap="none" lIns="0" rIns="0" tIns="0" bIns="0">
            <a:spAutoFit/>
          </a:bodyPr>
          <a:lstStyle/>
          <a:p>
            <a:pPr>
              <a:lnSpc>
                <a:spcPct val="113000"/>
              </a:lnSpc>
              <a:spcAft>
                <a:spcPts val="0"/>
              </a:spcAft>
              <a:defRPr sz="800" b="0">
                <a:solidFill>
                  <a:srgbClr val="7A8C6D"/>
                </a:solidFill>
                <a:latin typeface="DejaVu Sans"/>
              </a:defRPr>
            </a:pPr>
            <a:r>
              <a:t>United States</a:t>
            </a:r>
          </a:p>
        </p:txBody>
      </p:sp>
      <p:sp>
        <p:nvSpPr>
          <p:cNvPr id="123" name="Rectangle 122"/>
          <p:cNvSpPr/>
          <p:nvPr/>
        </p:nvSpPr>
        <p:spPr>
          <a:xfrm>
            <a:off x="9189720" y="2926080"/>
            <a:ext cx="146304" cy="22860"/>
          </a:xfrm>
          <a:prstGeom prst="rect">
            <a:avLst/>
          </a:prstGeom>
          <a:solidFill>
            <a:srgbClr val="D3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9400032" y="2834640"/>
            <a:ext cx="1828800" cy="182880"/>
          </a:xfrm>
          <a:prstGeom prst="rect">
            <a:avLst/>
          </a:prstGeom>
          <a:noFill/>
        </p:spPr>
        <p:txBody>
          <a:bodyPr wrap="none" lIns="0" rIns="0" tIns="0" bIns="0">
            <a:spAutoFit/>
          </a:bodyPr>
          <a:lstStyle/>
          <a:p>
            <a:pPr>
              <a:lnSpc>
                <a:spcPct val="113000"/>
              </a:lnSpc>
              <a:spcAft>
                <a:spcPts val="0"/>
              </a:spcAft>
              <a:defRPr sz="800" b="0">
                <a:solidFill>
                  <a:srgbClr val="7A8C6D"/>
                </a:solidFill>
                <a:latin typeface="DejaVu Sans"/>
              </a:defRPr>
            </a:pPr>
            <a:r>
              <a:t>Singapore</a:t>
            </a:r>
          </a:p>
        </p:txBody>
      </p:sp>
      <p:cxnSp>
        <p:nvCxnSpPr>
          <p:cNvPr id="125" name="Connector 124"/>
          <p:cNvCxnSpPr/>
          <p:nvPr/>
        </p:nvCxnSpPr>
        <p:spPr>
          <a:xfrm>
            <a:off x="502920" y="6419088"/>
            <a:ext cx="11183112" cy="0"/>
          </a:xfrm>
          <a:prstGeom prst="line">
            <a:avLst/>
          </a:prstGeom>
          <a:ln w="6350">
            <a:solidFill>
              <a:srgbClr val="DCE3D2"/>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502920" y="6519672"/>
            <a:ext cx="10789920" cy="182880"/>
          </a:xfrm>
          <a:prstGeom prst="rect">
            <a:avLst/>
          </a:prstGeom>
          <a:noFill/>
        </p:spPr>
        <p:txBody>
          <a:bodyPr wrap="none" lIns="0" rIns="0" tIns="0" bIns="0">
            <a:spAutoFit/>
          </a:bodyPr>
          <a:lstStyle/>
          <a:p>
            <a:pPr>
              <a:lnSpc>
                <a:spcPct val="113000"/>
              </a:lnSpc>
              <a:spcAft>
                <a:spcPts val="0"/>
              </a:spcAft>
              <a:defRPr sz="640" b="0">
                <a:solidFill>
                  <a:srgbClr val="7A8C6D"/>
                </a:solidFill>
                <a:latin typeface="DejaVu Sans"/>
              </a:defRPr>
            </a:pPr>
            <a:r>
              <a:t>World Bank, WDI SP.DYN.LE00.IN. CC BY 4.0. Retrieved 11 Sep 2026. Period life expectancy; differences do not identify policy effects.</a:t>
            </a:r>
          </a:p>
        </p:txBody>
      </p:sp>
      <p:sp>
        <p:nvSpPr>
          <p:cNvPr id="127" name="TextBox 126"/>
          <p:cNvSpPr txBox="1"/>
          <p:nvPr/>
        </p:nvSpPr>
        <p:spPr>
          <a:xfrm>
            <a:off x="11384280" y="6492240"/>
            <a:ext cx="365760" cy="182880"/>
          </a:xfrm>
          <a:prstGeom prst="rect">
            <a:avLst/>
          </a:prstGeom>
          <a:noFill/>
        </p:spPr>
        <p:txBody>
          <a:bodyPr wrap="none" lIns="0" rIns="0" tIns="0" bIns="0">
            <a:spAutoFit/>
          </a:bodyPr>
          <a:lstStyle/>
          <a:p>
            <a:pPr>
              <a:lnSpc>
                <a:spcPct val="113000"/>
              </a:lnSpc>
              <a:spcAft>
                <a:spcPts val="0"/>
              </a:spcAft>
              <a:defRPr sz="800" b="0">
                <a:solidFill>
                  <a:srgbClr val="7A8C6D"/>
                </a:solidFill>
                <a:latin typeface="DejaVu San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F34"/>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none" lIns="0" rIns="0" tIns="0" bIns="0">
            <a:spAutoFit/>
          </a:bodyPr>
          <a:lstStyle/>
          <a:p>
            <a:pPr>
              <a:lnSpc>
                <a:spcPct val="113000"/>
              </a:lnSpc>
              <a:spcAft>
                <a:spcPts val="0"/>
              </a:spcAft>
              <a:defRPr sz="1000" b="1">
                <a:solidFill>
                  <a:srgbClr val="B5C9AE"/>
                </a:solidFill>
                <a:latin typeface="DejaVu Sans"/>
              </a:defRPr>
            </a:pPr>
            <a:r>
              <a:t>longview / THE WORKING DEMO</a:t>
            </a:r>
          </a:p>
        </p:txBody>
      </p:sp>
      <p:sp>
        <p:nvSpPr>
          <p:cNvPr id="3" name="TextBox 2"/>
          <p:cNvSpPr txBox="1"/>
          <p:nvPr/>
        </p:nvSpPr>
        <p:spPr>
          <a:xfrm>
            <a:off x="548640" y="877824"/>
            <a:ext cx="10972800" cy="640080"/>
          </a:xfrm>
          <a:prstGeom prst="rect">
            <a:avLst/>
          </a:prstGeom>
          <a:noFill/>
        </p:spPr>
        <p:txBody>
          <a:bodyPr wrap="none" lIns="0" rIns="0" tIns="0" bIns="0">
            <a:spAutoFit/>
          </a:bodyPr>
          <a:lstStyle/>
          <a:p>
            <a:pPr>
              <a:lnSpc>
                <a:spcPct val="113000"/>
              </a:lnSpc>
              <a:spcAft>
                <a:spcPts val="0"/>
              </a:spcAft>
              <a:defRPr sz="3000" b="0">
                <a:solidFill>
                  <a:srgbClr val="EAF0D9"/>
                </a:solidFill>
                <a:latin typeface="DejaVu Sans"/>
              </a:defRPr>
            </a:pPr>
            <a:r>
              <a:t>From a country to an analyst brief.</a:t>
            </a:r>
          </a:p>
        </p:txBody>
      </p:sp>
      <p:sp>
        <p:nvSpPr>
          <p:cNvPr id="4" name="TextBox 3"/>
          <p:cNvSpPr txBox="1"/>
          <p:nvPr/>
        </p:nvSpPr>
        <p:spPr>
          <a:xfrm>
            <a:off x="566928" y="1920240"/>
            <a:ext cx="457200" cy="274320"/>
          </a:xfrm>
          <a:prstGeom prst="rect">
            <a:avLst/>
          </a:prstGeom>
          <a:noFill/>
        </p:spPr>
        <p:txBody>
          <a:bodyPr wrap="none" lIns="0" rIns="0" tIns="0" bIns="0">
            <a:spAutoFit/>
          </a:bodyPr>
          <a:lstStyle/>
          <a:p>
            <a:pPr>
              <a:lnSpc>
                <a:spcPct val="113000"/>
              </a:lnSpc>
              <a:spcAft>
                <a:spcPts val="0"/>
              </a:spcAft>
              <a:defRPr sz="1200" b="0">
                <a:solidFill>
                  <a:srgbClr val="B4C792"/>
                </a:solidFill>
                <a:latin typeface="DejaVu Sans"/>
              </a:defRPr>
            </a:pPr>
            <a:r>
              <a:t>01</a:t>
            </a:r>
          </a:p>
        </p:txBody>
      </p:sp>
      <p:sp>
        <p:nvSpPr>
          <p:cNvPr id="5" name="TextBox 4"/>
          <p:cNvSpPr txBox="1"/>
          <p:nvPr/>
        </p:nvSpPr>
        <p:spPr>
          <a:xfrm>
            <a:off x="1078992" y="1892808"/>
            <a:ext cx="3383280" cy="365760"/>
          </a:xfrm>
          <a:prstGeom prst="rect">
            <a:avLst/>
          </a:prstGeom>
          <a:noFill/>
        </p:spPr>
        <p:txBody>
          <a:bodyPr wrap="none" lIns="0" rIns="0" tIns="0" bIns="0">
            <a:spAutoFit/>
          </a:bodyPr>
          <a:lstStyle/>
          <a:p>
            <a:pPr>
              <a:lnSpc>
                <a:spcPct val="113000"/>
              </a:lnSpc>
              <a:spcAft>
                <a:spcPts val="0"/>
              </a:spcAft>
              <a:defRPr sz="1600" b="1">
                <a:solidFill>
                  <a:srgbClr val="EDF2DF"/>
                </a:solidFill>
                <a:latin typeface="DejaVu Sans"/>
              </a:defRPr>
            </a:pPr>
            <a:r>
              <a:t>Choose a country</a:t>
            </a:r>
          </a:p>
        </p:txBody>
      </p:sp>
      <p:sp>
        <p:nvSpPr>
          <p:cNvPr id="6" name="TextBox 5"/>
          <p:cNvSpPr txBox="1"/>
          <p:nvPr/>
        </p:nvSpPr>
        <p:spPr>
          <a:xfrm>
            <a:off x="1078992" y="2286000"/>
            <a:ext cx="3474720" cy="548640"/>
          </a:xfrm>
          <a:prstGeom prst="rect">
            <a:avLst/>
          </a:prstGeom>
          <a:noFill/>
        </p:spPr>
        <p:txBody>
          <a:bodyPr wrap="none" lIns="0" rIns="0" tIns="0" bIns="0">
            <a:spAutoFit/>
          </a:bodyPr>
          <a:lstStyle/>
          <a:p>
            <a:pPr>
              <a:lnSpc>
                <a:spcPct val="113000"/>
              </a:lnSpc>
              <a:spcAft>
                <a:spcPts val="0"/>
              </a:spcAft>
              <a:defRPr sz="1030" b="0">
                <a:solidFill>
                  <a:srgbClr val="AEC3A5"/>
                </a:solidFill>
                <a:latin typeface="DejaVu Sans"/>
              </a:defRPr>
            </a:pPr>
            <a:r>
              <a:t>Observed outcomes and population</a:t>
            </a:r>
          </a:p>
          <a:p>
            <a:pPr>
              <a:lnSpc>
                <a:spcPct val="113000"/>
              </a:lnSpc>
              <a:spcAft>
                <a:spcPts val="0"/>
              </a:spcAft>
              <a:defRPr sz="1030" b="0">
                <a:solidFill>
                  <a:srgbClr val="AEC3A5"/>
                </a:solidFill>
                <a:latin typeface="DejaVu Sans"/>
              </a:defRPr>
            </a:pPr>
            <a:r>
              <a:t>context, with dates and sources.</a:t>
            </a:r>
          </a:p>
        </p:txBody>
      </p:sp>
      <p:sp>
        <p:nvSpPr>
          <p:cNvPr id="7" name="TextBox 6"/>
          <p:cNvSpPr txBox="1"/>
          <p:nvPr/>
        </p:nvSpPr>
        <p:spPr>
          <a:xfrm>
            <a:off x="566928" y="3063240"/>
            <a:ext cx="457200" cy="274320"/>
          </a:xfrm>
          <a:prstGeom prst="rect">
            <a:avLst/>
          </a:prstGeom>
          <a:noFill/>
        </p:spPr>
        <p:txBody>
          <a:bodyPr wrap="none" lIns="0" rIns="0" tIns="0" bIns="0">
            <a:spAutoFit/>
          </a:bodyPr>
          <a:lstStyle/>
          <a:p>
            <a:pPr>
              <a:lnSpc>
                <a:spcPct val="113000"/>
              </a:lnSpc>
              <a:spcAft>
                <a:spcPts val="0"/>
              </a:spcAft>
              <a:defRPr sz="1200" b="0">
                <a:solidFill>
                  <a:srgbClr val="B4C792"/>
                </a:solidFill>
                <a:latin typeface="DejaVu Sans"/>
              </a:defRPr>
            </a:pPr>
            <a:r>
              <a:t>02</a:t>
            </a:r>
          </a:p>
        </p:txBody>
      </p:sp>
      <p:sp>
        <p:nvSpPr>
          <p:cNvPr id="8" name="TextBox 7"/>
          <p:cNvSpPr txBox="1"/>
          <p:nvPr/>
        </p:nvSpPr>
        <p:spPr>
          <a:xfrm>
            <a:off x="1078992" y="3035808"/>
            <a:ext cx="3383280" cy="365760"/>
          </a:xfrm>
          <a:prstGeom prst="rect">
            <a:avLst/>
          </a:prstGeom>
          <a:noFill/>
        </p:spPr>
        <p:txBody>
          <a:bodyPr wrap="none" lIns="0" rIns="0" tIns="0" bIns="0">
            <a:spAutoFit/>
          </a:bodyPr>
          <a:lstStyle/>
          <a:p>
            <a:pPr>
              <a:lnSpc>
                <a:spcPct val="113000"/>
              </a:lnSpc>
              <a:spcAft>
                <a:spcPts val="0"/>
              </a:spcAft>
              <a:defRPr sz="1600" b="1">
                <a:solidFill>
                  <a:srgbClr val="EDF2DF"/>
                </a:solidFill>
                <a:latin typeface="DejaVu Sans"/>
              </a:defRPr>
            </a:pPr>
            <a:r>
              <a:t>Inspect the policy record</a:t>
            </a:r>
          </a:p>
        </p:txBody>
      </p:sp>
      <p:sp>
        <p:nvSpPr>
          <p:cNvPr id="9" name="TextBox 8"/>
          <p:cNvSpPr txBox="1"/>
          <p:nvPr/>
        </p:nvSpPr>
        <p:spPr>
          <a:xfrm>
            <a:off x="1078992" y="3429000"/>
            <a:ext cx="3474720" cy="548640"/>
          </a:xfrm>
          <a:prstGeom prst="rect">
            <a:avLst/>
          </a:prstGeom>
          <a:noFill/>
        </p:spPr>
        <p:txBody>
          <a:bodyPr wrap="none" lIns="0" rIns="0" tIns="0" bIns="0">
            <a:spAutoFit/>
          </a:bodyPr>
          <a:lstStyle/>
          <a:p>
            <a:pPr>
              <a:lnSpc>
                <a:spcPct val="113000"/>
              </a:lnSpc>
              <a:spcAft>
                <a:spcPts val="0"/>
              </a:spcAft>
              <a:defRPr sz="1030" b="0">
                <a:solidFill>
                  <a:srgbClr val="AEC3A5"/>
                </a:solidFill>
                <a:latin typeface="DejaVu Sans"/>
              </a:defRPr>
            </a:pPr>
            <a:r>
              <a:t>Separate proposals, adopted rules</a:t>
            </a:r>
          </a:p>
          <a:p>
            <a:pPr>
              <a:lnSpc>
                <a:spcPct val="113000"/>
              </a:lnSpc>
              <a:spcAft>
                <a:spcPts val="0"/>
              </a:spcAft>
              <a:defRPr sz="1030" b="0">
                <a:solidFill>
                  <a:srgbClr val="AEC3A5"/>
                </a:solidFill>
                <a:latin typeface="DejaVu Sans"/>
              </a:defRPr>
            </a:pPr>
            <a:r>
              <a:t>and funding commitments.</a:t>
            </a:r>
          </a:p>
        </p:txBody>
      </p:sp>
      <p:sp>
        <p:nvSpPr>
          <p:cNvPr id="10" name="TextBox 9"/>
          <p:cNvSpPr txBox="1"/>
          <p:nvPr/>
        </p:nvSpPr>
        <p:spPr>
          <a:xfrm>
            <a:off x="566928" y="4206240"/>
            <a:ext cx="457200" cy="274320"/>
          </a:xfrm>
          <a:prstGeom prst="rect">
            <a:avLst/>
          </a:prstGeom>
          <a:noFill/>
        </p:spPr>
        <p:txBody>
          <a:bodyPr wrap="none" lIns="0" rIns="0" tIns="0" bIns="0">
            <a:spAutoFit/>
          </a:bodyPr>
          <a:lstStyle/>
          <a:p>
            <a:pPr>
              <a:lnSpc>
                <a:spcPct val="113000"/>
              </a:lnSpc>
              <a:spcAft>
                <a:spcPts val="0"/>
              </a:spcAft>
              <a:defRPr sz="1200" b="0">
                <a:solidFill>
                  <a:srgbClr val="B4C792"/>
                </a:solidFill>
                <a:latin typeface="DejaVu Sans"/>
              </a:defRPr>
            </a:pPr>
            <a:r>
              <a:t>03</a:t>
            </a:r>
          </a:p>
        </p:txBody>
      </p:sp>
      <p:sp>
        <p:nvSpPr>
          <p:cNvPr id="11" name="TextBox 10"/>
          <p:cNvSpPr txBox="1"/>
          <p:nvPr/>
        </p:nvSpPr>
        <p:spPr>
          <a:xfrm>
            <a:off x="1078992" y="4178807"/>
            <a:ext cx="3383280" cy="365760"/>
          </a:xfrm>
          <a:prstGeom prst="rect">
            <a:avLst/>
          </a:prstGeom>
          <a:noFill/>
        </p:spPr>
        <p:txBody>
          <a:bodyPr wrap="none" lIns="0" rIns="0" tIns="0" bIns="0">
            <a:spAutoFit/>
          </a:bodyPr>
          <a:lstStyle/>
          <a:p>
            <a:pPr>
              <a:lnSpc>
                <a:spcPct val="113000"/>
              </a:lnSpc>
              <a:spcAft>
                <a:spcPts val="0"/>
              </a:spcAft>
              <a:defRPr sz="1600" b="1">
                <a:solidFill>
                  <a:srgbClr val="EDF2DF"/>
                </a:solidFill>
                <a:latin typeface="DejaVu Sans"/>
              </a:defRPr>
            </a:pPr>
            <a:r>
              <a:t>Change one assumption</a:t>
            </a:r>
          </a:p>
        </p:txBody>
      </p:sp>
      <p:sp>
        <p:nvSpPr>
          <p:cNvPr id="12" name="TextBox 11"/>
          <p:cNvSpPr txBox="1"/>
          <p:nvPr/>
        </p:nvSpPr>
        <p:spPr>
          <a:xfrm>
            <a:off x="1078992" y="4572000"/>
            <a:ext cx="3474720" cy="548640"/>
          </a:xfrm>
          <a:prstGeom prst="rect">
            <a:avLst/>
          </a:prstGeom>
          <a:noFill/>
        </p:spPr>
        <p:txBody>
          <a:bodyPr wrap="none" lIns="0" rIns="0" tIns="0" bIns="0">
            <a:spAutoFit/>
          </a:bodyPr>
          <a:lstStyle/>
          <a:p>
            <a:pPr>
              <a:lnSpc>
                <a:spcPct val="113000"/>
              </a:lnSpc>
              <a:spcAft>
                <a:spcPts val="0"/>
              </a:spcAft>
              <a:defRPr sz="1030" b="0">
                <a:solidFill>
                  <a:srgbClr val="AEC3A5"/>
                </a:solidFill>
                <a:latin typeface="DejaVu Sans"/>
              </a:defRPr>
            </a:pPr>
            <a:r>
              <a:t>Five-year forecast; ten-year scenario.</a:t>
            </a:r>
          </a:p>
          <a:p>
            <a:pPr>
              <a:lnSpc>
                <a:spcPct val="113000"/>
              </a:lnSpc>
              <a:spcAft>
                <a:spcPts val="0"/>
              </a:spcAft>
              <a:defRPr sz="1030" b="0">
                <a:solidFill>
                  <a:srgbClr val="AEC3A5"/>
                </a:solidFill>
                <a:latin typeface="DejaVu Sans"/>
              </a:defRPr>
            </a:pPr>
            <a:r>
              <a:t>Share the link and print the brief.</a:t>
            </a:r>
          </a:p>
        </p:txBody>
      </p:sp>
      <p:sp>
        <p:nvSpPr>
          <p:cNvPr id="13" name="Rounded Rectangle 12"/>
          <p:cNvSpPr/>
          <p:nvPr/>
        </p:nvSpPr>
        <p:spPr>
          <a:xfrm>
            <a:off x="548640" y="5486400"/>
            <a:ext cx="3749039" cy="493776"/>
          </a:xfrm>
          <a:prstGeom prst="roundRect">
            <a:avLst>
              <a:gd name="adj" fmla="val 12000"/>
            </a:avLst>
          </a:prstGeom>
          <a:solidFill>
            <a:srgbClr val="315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5632704"/>
            <a:ext cx="3474720" cy="182880"/>
          </a:xfrm>
          <a:prstGeom prst="rect">
            <a:avLst/>
          </a:prstGeom>
          <a:noFill/>
        </p:spPr>
        <p:txBody>
          <a:bodyPr wrap="none" lIns="0" rIns="0" tIns="0" bIns="0">
            <a:spAutoFit/>
          </a:bodyPr>
          <a:lstStyle/>
          <a:p>
            <a:pPr>
              <a:lnSpc>
                <a:spcPct val="113000"/>
              </a:lnSpc>
              <a:spcAft>
                <a:spcPts val="0"/>
              </a:spcAft>
              <a:defRPr sz="1000" b="0">
                <a:solidFill>
                  <a:srgbClr val="DCE7C2"/>
                </a:solidFill>
                <a:latin typeface="DejaVu Sans"/>
              </a:defRPr>
            </a:pPr>
            <a:r>
              <a:t>36 candidates · 0 human-approved</a:t>
            </a:r>
          </a:p>
        </p:txBody>
      </p:sp>
      <p:sp>
        <p:nvSpPr>
          <p:cNvPr id="15" name="Rounded Rectangle 14"/>
          <p:cNvSpPr/>
          <p:nvPr/>
        </p:nvSpPr>
        <p:spPr>
          <a:xfrm>
            <a:off x="4645152" y="1792224"/>
            <a:ext cx="6967728" cy="4443984"/>
          </a:xfrm>
          <a:prstGeom prst="roundRect">
            <a:avLst>
              <a:gd name="adj" fmla="val 12000"/>
            </a:avLst>
          </a:prstGeom>
          <a:solidFill>
            <a:srgbClr val="5673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lide-demo-crop.png"/>
          <p:cNvPicPr>
            <a:picLocks noChangeAspect="1"/>
          </p:cNvPicPr>
          <p:nvPr/>
        </p:nvPicPr>
        <p:blipFill>
          <a:blip r:embed="rId2"/>
          <a:stretch>
            <a:fillRect/>
          </a:stretch>
        </p:blipFill>
        <p:spPr>
          <a:xfrm>
            <a:off x="4709160" y="1856231"/>
            <a:ext cx="6839712" cy="4315968"/>
          </a:xfrm>
          <a:prstGeom prst="rect">
            <a:avLst/>
          </a:prstGeom>
        </p:spPr>
      </p:pic>
      <p:cxnSp>
        <p:nvCxnSpPr>
          <p:cNvPr id="17" name="Connector 16"/>
          <p:cNvCxnSpPr/>
          <p:nvPr/>
        </p:nvCxnSpPr>
        <p:spPr>
          <a:xfrm>
            <a:off x="502920" y="6419088"/>
            <a:ext cx="11183112" cy="0"/>
          </a:xfrm>
          <a:prstGeom prst="line">
            <a:avLst/>
          </a:prstGeom>
          <a:ln w="6350">
            <a:solidFill>
              <a:srgbClr val="54725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2920" y="6519672"/>
            <a:ext cx="10789920" cy="182880"/>
          </a:xfrm>
          <a:prstGeom prst="rect">
            <a:avLst/>
          </a:prstGeom>
          <a:noFill/>
        </p:spPr>
        <p:txBody>
          <a:bodyPr wrap="none" lIns="0" rIns="0" tIns="0" bIns="0">
            <a:spAutoFit/>
          </a:bodyPr>
          <a:lstStyle/>
          <a:p>
            <a:pPr>
              <a:lnSpc>
                <a:spcPct val="113000"/>
              </a:lnSpc>
              <a:spcAft>
                <a:spcPts val="0"/>
              </a:spcAft>
              <a:defRPr sz="640" b="0">
                <a:solidFill>
                  <a:srgbClr val="B0C5A9"/>
                </a:solidFill>
                <a:latin typeface="DejaVu Sans"/>
              </a:defRPr>
            </a:pPr>
            <a:r>
              <a:t>React + TypeScript · Python + SQLite · You.com / Tavily discovery · World Bank indicators · Static browser inference; no public research endpoint.</a:t>
            </a:r>
          </a:p>
        </p:txBody>
      </p:sp>
      <p:sp>
        <p:nvSpPr>
          <p:cNvPr id="19" name="TextBox 18"/>
          <p:cNvSpPr txBox="1"/>
          <p:nvPr/>
        </p:nvSpPr>
        <p:spPr>
          <a:xfrm>
            <a:off x="11384280" y="6492240"/>
            <a:ext cx="365760" cy="182880"/>
          </a:xfrm>
          <a:prstGeom prst="rect">
            <a:avLst/>
          </a:prstGeom>
          <a:noFill/>
        </p:spPr>
        <p:txBody>
          <a:bodyPr wrap="none" lIns="0" rIns="0" tIns="0" bIns="0">
            <a:spAutoFit/>
          </a:bodyPr>
          <a:lstStyle/>
          <a:p>
            <a:pPr>
              <a:lnSpc>
                <a:spcPct val="113000"/>
              </a:lnSpc>
              <a:spcAft>
                <a:spcPts val="0"/>
              </a:spcAft>
              <a:defRPr sz="800" b="0">
                <a:solidFill>
                  <a:srgbClr val="B0C5A9"/>
                </a:solidFill>
                <a:latin typeface="DejaVu San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none" lIns="0" rIns="0" tIns="0" bIns="0">
            <a:spAutoFit/>
          </a:bodyPr>
          <a:lstStyle/>
          <a:p>
            <a:pPr>
              <a:lnSpc>
                <a:spcPct val="113000"/>
              </a:lnSpc>
              <a:spcAft>
                <a:spcPts val="0"/>
              </a:spcAft>
              <a:defRPr sz="1000" b="1">
                <a:solidFill>
                  <a:srgbClr val="7A8C6D"/>
                </a:solidFill>
                <a:latin typeface="DejaVu Sans"/>
              </a:defRPr>
            </a:pPr>
            <a:r>
              <a:t>longview / EVIDENCE &amp; THE NEXT TEST</a:t>
            </a:r>
          </a:p>
        </p:txBody>
      </p:sp>
      <p:sp>
        <p:nvSpPr>
          <p:cNvPr id="3" name="TextBox 2"/>
          <p:cNvSpPr txBox="1"/>
          <p:nvPr/>
        </p:nvSpPr>
        <p:spPr>
          <a:xfrm>
            <a:off x="548640" y="877824"/>
            <a:ext cx="10789920" cy="685800"/>
          </a:xfrm>
          <a:prstGeom prst="rect">
            <a:avLst/>
          </a:prstGeom>
          <a:noFill/>
        </p:spPr>
        <p:txBody>
          <a:bodyPr wrap="none" lIns="0" rIns="0" tIns="0" bIns="0">
            <a:spAutoFit/>
          </a:bodyPr>
          <a:lstStyle/>
          <a:p>
            <a:pPr>
              <a:lnSpc>
                <a:spcPct val="113000"/>
              </a:lnSpc>
              <a:spcAft>
                <a:spcPts val="0"/>
              </a:spcAft>
              <a:defRPr sz="3000" b="0">
                <a:solidFill>
                  <a:srgbClr val="1B3E31"/>
                </a:solidFill>
                <a:latin typeface="DejaVu Sans"/>
              </a:defRPr>
            </a:pPr>
            <a:r>
              <a:t>Make the uncertainty part of the decision.</a:t>
            </a:r>
          </a:p>
        </p:txBody>
      </p:sp>
      <p:sp>
        <p:nvSpPr>
          <p:cNvPr id="4" name="Rounded Rectangle 3"/>
          <p:cNvSpPr/>
          <p:nvPr/>
        </p:nvSpPr>
        <p:spPr>
          <a:xfrm>
            <a:off x="548640" y="1828800"/>
            <a:ext cx="5486400" cy="3383280"/>
          </a:xfrm>
          <a:prstGeom prst="roundRect">
            <a:avLst>
              <a:gd name="adj" fmla="val 12000"/>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075688"/>
            <a:ext cx="4846320" cy="320040"/>
          </a:xfrm>
          <a:prstGeom prst="rect">
            <a:avLst/>
          </a:prstGeom>
          <a:noFill/>
        </p:spPr>
        <p:txBody>
          <a:bodyPr wrap="none" lIns="0" rIns="0" tIns="0" bIns="0">
            <a:spAutoFit/>
          </a:bodyPr>
          <a:lstStyle/>
          <a:p>
            <a:pPr>
              <a:lnSpc>
                <a:spcPct val="113000"/>
              </a:lnSpc>
              <a:spcAft>
                <a:spcPts val="0"/>
              </a:spcAft>
              <a:defRPr sz="900" b="1">
                <a:solidFill>
                  <a:srgbClr val="7A8C6D"/>
                </a:solidFill>
                <a:latin typeface="DejaVu Sans"/>
              </a:defRPr>
            </a:pPr>
            <a:r>
              <a:t>FIVE-YEAR HISTORICAL FORECASTS</a:t>
            </a:r>
          </a:p>
        </p:txBody>
      </p:sp>
      <p:sp>
        <p:nvSpPr>
          <p:cNvPr id="6" name="TextBox 5"/>
          <p:cNvSpPr txBox="1"/>
          <p:nvPr/>
        </p:nvSpPr>
        <p:spPr>
          <a:xfrm>
            <a:off x="822960" y="2560320"/>
            <a:ext cx="2377440" cy="731520"/>
          </a:xfrm>
          <a:prstGeom prst="rect">
            <a:avLst/>
          </a:prstGeom>
          <a:noFill/>
        </p:spPr>
        <p:txBody>
          <a:bodyPr wrap="none" lIns="0" rIns="0" tIns="0" bIns="0">
            <a:spAutoFit/>
          </a:bodyPr>
          <a:lstStyle/>
          <a:p>
            <a:pPr>
              <a:lnSpc>
                <a:spcPct val="113000"/>
              </a:lnSpc>
              <a:spcAft>
                <a:spcPts val="0"/>
              </a:spcAft>
              <a:defRPr sz="4700" b="0">
                <a:solidFill>
                  <a:srgbClr val="426D4D"/>
                </a:solidFill>
                <a:latin typeface="DejaVu Sans"/>
              </a:defRPr>
            </a:pPr>
            <a:r>
              <a:t>1.10</a:t>
            </a:r>
          </a:p>
        </p:txBody>
      </p:sp>
      <p:sp>
        <p:nvSpPr>
          <p:cNvPr id="7" name="TextBox 6"/>
          <p:cNvSpPr txBox="1"/>
          <p:nvPr/>
        </p:nvSpPr>
        <p:spPr>
          <a:xfrm>
            <a:off x="2816352" y="2770632"/>
            <a:ext cx="2286000" cy="457200"/>
          </a:xfrm>
          <a:prstGeom prst="rect">
            <a:avLst/>
          </a:prstGeom>
          <a:noFill/>
        </p:spPr>
        <p:txBody>
          <a:bodyPr wrap="none" lIns="0" rIns="0" tIns="0" bIns="0">
            <a:spAutoFit/>
          </a:bodyPr>
          <a:lstStyle/>
          <a:p>
            <a:pPr>
              <a:lnSpc>
                <a:spcPct val="113000"/>
              </a:lnSpc>
              <a:spcAft>
                <a:spcPts val="0"/>
              </a:spcAft>
              <a:defRPr sz="1200" b="0">
                <a:solidFill>
                  <a:srgbClr val="7A8C6D"/>
                </a:solidFill>
                <a:latin typeface="DejaVu Sans"/>
              </a:defRPr>
            </a:pPr>
            <a:r>
              <a:t>years mean</a:t>
            </a:r>
          </a:p>
          <a:p>
            <a:pPr>
              <a:lnSpc>
                <a:spcPct val="113000"/>
              </a:lnSpc>
              <a:spcAft>
                <a:spcPts val="0"/>
              </a:spcAft>
              <a:defRPr sz="1200" b="0">
                <a:solidFill>
                  <a:srgbClr val="7A8C6D"/>
                </a:solidFill>
                <a:latin typeface="DejaVu Sans"/>
              </a:defRPr>
            </a:pPr>
            <a:r>
              <a:t>absolute error</a:t>
            </a:r>
          </a:p>
        </p:txBody>
      </p:sp>
      <p:sp>
        <p:nvSpPr>
          <p:cNvPr id="8" name="TextBox 7"/>
          <p:cNvSpPr txBox="1"/>
          <p:nvPr/>
        </p:nvSpPr>
        <p:spPr>
          <a:xfrm>
            <a:off x="868680" y="3703320"/>
            <a:ext cx="1325880" cy="201168"/>
          </a:xfrm>
          <a:prstGeom prst="rect">
            <a:avLst/>
          </a:prstGeom>
          <a:noFill/>
        </p:spPr>
        <p:txBody>
          <a:bodyPr wrap="none" lIns="0" rIns="0" tIns="0" bIns="0">
            <a:spAutoFit/>
          </a:bodyPr>
          <a:lstStyle/>
          <a:p>
            <a:pPr>
              <a:lnSpc>
                <a:spcPct val="113000"/>
              </a:lnSpc>
              <a:spcAft>
                <a:spcPts val="0"/>
              </a:spcAft>
              <a:defRPr sz="900" b="0">
                <a:solidFill>
                  <a:srgbClr val="7A8C6D"/>
                </a:solidFill>
                <a:latin typeface="DejaVu Sans"/>
              </a:defRPr>
            </a:pPr>
            <a:r>
              <a:t>Regression</a:t>
            </a:r>
          </a:p>
        </p:txBody>
      </p:sp>
      <p:sp>
        <p:nvSpPr>
          <p:cNvPr id="9" name="Rounded Rectangle 8"/>
          <p:cNvSpPr/>
          <p:nvPr/>
        </p:nvSpPr>
        <p:spPr>
          <a:xfrm>
            <a:off x="2221992" y="3735324"/>
            <a:ext cx="2043105" cy="137160"/>
          </a:xfrm>
          <a:prstGeom prst="roundRect">
            <a:avLst>
              <a:gd name="adj" fmla="val 12000"/>
            </a:avLst>
          </a:prstGeom>
          <a:solidFill>
            <a:srgbClr val="426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1768" y="3694176"/>
            <a:ext cx="640080" cy="274320"/>
          </a:xfrm>
          <a:prstGeom prst="rect">
            <a:avLst/>
          </a:prstGeom>
          <a:noFill/>
        </p:spPr>
        <p:txBody>
          <a:bodyPr wrap="none" lIns="0" rIns="0" tIns="0" bIns="0">
            <a:spAutoFit/>
          </a:bodyPr>
          <a:lstStyle/>
          <a:p>
            <a:pPr>
              <a:lnSpc>
                <a:spcPct val="113000"/>
              </a:lnSpc>
              <a:spcAft>
                <a:spcPts val="0"/>
              </a:spcAft>
              <a:defRPr sz="1100" b="0">
                <a:solidFill>
                  <a:srgbClr val="1B3E31"/>
                </a:solidFill>
                <a:latin typeface="DejaVu Sans"/>
              </a:defRPr>
            </a:pPr>
            <a:r>
              <a:t>1.10</a:t>
            </a:r>
          </a:p>
        </p:txBody>
      </p:sp>
      <p:sp>
        <p:nvSpPr>
          <p:cNvPr id="11" name="TextBox 10"/>
          <p:cNvSpPr txBox="1"/>
          <p:nvPr/>
        </p:nvSpPr>
        <p:spPr>
          <a:xfrm>
            <a:off x="868680" y="4114800"/>
            <a:ext cx="1325880" cy="201168"/>
          </a:xfrm>
          <a:prstGeom prst="rect">
            <a:avLst/>
          </a:prstGeom>
          <a:noFill/>
        </p:spPr>
        <p:txBody>
          <a:bodyPr wrap="none" lIns="0" rIns="0" tIns="0" bIns="0">
            <a:spAutoFit/>
          </a:bodyPr>
          <a:lstStyle/>
          <a:p>
            <a:pPr>
              <a:lnSpc>
                <a:spcPct val="113000"/>
              </a:lnSpc>
              <a:spcAft>
                <a:spcPts val="0"/>
              </a:spcAft>
              <a:defRPr sz="900" b="0">
                <a:solidFill>
                  <a:srgbClr val="7A8C6D"/>
                </a:solidFill>
                <a:latin typeface="DejaVu Sans"/>
              </a:defRPr>
            </a:pPr>
            <a:r>
              <a:t>No change</a:t>
            </a:r>
          </a:p>
        </p:txBody>
      </p:sp>
      <p:sp>
        <p:nvSpPr>
          <p:cNvPr id="12" name="Rounded Rectangle 11"/>
          <p:cNvSpPr/>
          <p:nvPr/>
        </p:nvSpPr>
        <p:spPr>
          <a:xfrm>
            <a:off x="2221992" y="4146804"/>
            <a:ext cx="2287627" cy="137160"/>
          </a:xfrm>
          <a:prstGeom prst="roundRect">
            <a:avLst>
              <a:gd name="adj" fmla="val 12000"/>
            </a:avLst>
          </a:prstGeom>
          <a:solidFill>
            <a:srgbClr val="C5D0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1768" y="4105656"/>
            <a:ext cx="640080" cy="274320"/>
          </a:xfrm>
          <a:prstGeom prst="rect">
            <a:avLst/>
          </a:prstGeom>
          <a:noFill/>
        </p:spPr>
        <p:txBody>
          <a:bodyPr wrap="none" lIns="0" rIns="0" tIns="0" bIns="0">
            <a:spAutoFit/>
          </a:bodyPr>
          <a:lstStyle/>
          <a:p>
            <a:pPr>
              <a:lnSpc>
                <a:spcPct val="113000"/>
              </a:lnSpc>
              <a:spcAft>
                <a:spcPts val="0"/>
              </a:spcAft>
              <a:defRPr sz="1100" b="0">
                <a:solidFill>
                  <a:srgbClr val="1B3E31"/>
                </a:solidFill>
                <a:latin typeface="DejaVu Sans"/>
              </a:defRPr>
            </a:pPr>
            <a:r>
              <a:t>1.23</a:t>
            </a:r>
          </a:p>
        </p:txBody>
      </p:sp>
      <p:sp>
        <p:nvSpPr>
          <p:cNvPr id="14" name="TextBox 13"/>
          <p:cNvSpPr txBox="1"/>
          <p:nvPr/>
        </p:nvSpPr>
        <p:spPr>
          <a:xfrm>
            <a:off x="868680" y="4526280"/>
            <a:ext cx="1325880" cy="201168"/>
          </a:xfrm>
          <a:prstGeom prst="rect">
            <a:avLst/>
          </a:prstGeom>
          <a:noFill/>
        </p:spPr>
        <p:txBody>
          <a:bodyPr wrap="none" lIns="0" rIns="0" tIns="0" bIns="0">
            <a:spAutoFit/>
          </a:bodyPr>
          <a:lstStyle/>
          <a:p>
            <a:pPr>
              <a:lnSpc>
                <a:spcPct val="113000"/>
              </a:lnSpc>
              <a:spcAft>
                <a:spcPts val="0"/>
              </a:spcAft>
              <a:defRPr sz="900" b="0">
                <a:solidFill>
                  <a:srgbClr val="7A8C6D"/>
                </a:solidFill>
                <a:latin typeface="DejaVu Sans"/>
              </a:defRPr>
            </a:pPr>
            <a:r>
              <a:t>Previous trend</a:t>
            </a:r>
          </a:p>
        </p:txBody>
      </p:sp>
      <p:sp>
        <p:nvSpPr>
          <p:cNvPr id="15" name="Rounded Rectangle 14"/>
          <p:cNvSpPr/>
          <p:nvPr/>
        </p:nvSpPr>
        <p:spPr>
          <a:xfrm>
            <a:off x="2221992" y="4558284"/>
            <a:ext cx="2384437" cy="137160"/>
          </a:xfrm>
          <a:prstGeom prst="roundRect">
            <a:avLst>
              <a:gd name="adj" fmla="val 12000"/>
            </a:avLst>
          </a:prstGeom>
          <a:solidFill>
            <a:srgbClr val="C5D0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4517136"/>
            <a:ext cx="640080" cy="274320"/>
          </a:xfrm>
          <a:prstGeom prst="rect">
            <a:avLst/>
          </a:prstGeom>
          <a:noFill/>
        </p:spPr>
        <p:txBody>
          <a:bodyPr wrap="none" lIns="0" rIns="0" tIns="0" bIns="0">
            <a:spAutoFit/>
          </a:bodyPr>
          <a:lstStyle/>
          <a:p>
            <a:pPr>
              <a:lnSpc>
                <a:spcPct val="113000"/>
              </a:lnSpc>
              <a:spcAft>
                <a:spcPts val="0"/>
              </a:spcAft>
              <a:defRPr sz="1100" b="0">
                <a:solidFill>
                  <a:srgbClr val="1B3E31"/>
                </a:solidFill>
                <a:latin typeface="DejaVu Sans"/>
              </a:defRPr>
            </a:pPr>
            <a:r>
              <a:t>1.28</a:t>
            </a:r>
          </a:p>
        </p:txBody>
      </p:sp>
      <p:sp>
        <p:nvSpPr>
          <p:cNvPr id="17" name="TextBox 16"/>
          <p:cNvSpPr txBox="1"/>
          <p:nvPr/>
        </p:nvSpPr>
        <p:spPr>
          <a:xfrm>
            <a:off x="822960" y="4937760"/>
            <a:ext cx="4754880" cy="182880"/>
          </a:xfrm>
          <a:prstGeom prst="rect">
            <a:avLst/>
          </a:prstGeom>
          <a:noFill/>
        </p:spPr>
        <p:txBody>
          <a:bodyPr wrap="none" lIns="0" rIns="0" tIns="0" bIns="0">
            <a:spAutoFit/>
          </a:bodyPr>
          <a:lstStyle/>
          <a:p>
            <a:pPr>
              <a:lnSpc>
                <a:spcPct val="113000"/>
              </a:lnSpc>
              <a:spcAft>
                <a:spcPts val="0"/>
              </a:spcAft>
              <a:defRPr sz="800" b="0">
                <a:solidFill>
                  <a:srgbClr val="7A8C6D"/>
                </a:solidFill>
                <a:latin typeface="DejaVu Sans"/>
              </a:defRPr>
            </a:pPr>
            <a:r>
              <a:t>1,098 tests · 183 training countries / economies</a:t>
            </a:r>
          </a:p>
        </p:txBody>
      </p:sp>
      <p:sp>
        <p:nvSpPr>
          <p:cNvPr id="18" name="Rounded Rectangle 17"/>
          <p:cNvSpPr/>
          <p:nvPr/>
        </p:nvSpPr>
        <p:spPr>
          <a:xfrm>
            <a:off x="6272784" y="1828800"/>
            <a:ext cx="5358384" cy="3383280"/>
          </a:xfrm>
          <a:prstGeom prst="roundRect">
            <a:avLst>
              <a:gd name="adj" fmla="val 12000"/>
            </a:avLst>
          </a:prstGeom>
          <a:solidFill>
            <a:srgbClr val="E8E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56248" y="2075688"/>
            <a:ext cx="4754880" cy="274320"/>
          </a:xfrm>
          <a:prstGeom prst="rect">
            <a:avLst/>
          </a:prstGeom>
          <a:noFill/>
        </p:spPr>
        <p:txBody>
          <a:bodyPr wrap="none" lIns="0" rIns="0" tIns="0" bIns="0">
            <a:spAutoFit/>
          </a:bodyPr>
          <a:lstStyle/>
          <a:p>
            <a:pPr>
              <a:lnSpc>
                <a:spcPct val="113000"/>
              </a:lnSpc>
              <a:spcAft>
                <a:spcPts val="0"/>
              </a:spcAft>
              <a:defRPr sz="900" b="1">
                <a:solidFill>
                  <a:srgbClr val="7A8C6D"/>
                </a:solidFill>
                <a:latin typeface="DejaVu Sans"/>
              </a:defRPr>
            </a:pPr>
            <a:r>
              <a:t>HUMAN EVIDENCE VERIFICATION</a:t>
            </a:r>
          </a:p>
        </p:txBody>
      </p:sp>
      <p:sp>
        <p:nvSpPr>
          <p:cNvPr id="20" name="TextBox 19"/>
          <p:cNvSpPr txBox="1"/>
          <p:nvPr/>
        </p:nvSpPr>
        <p:spPr>
          <a:xfrm>
            <a:off x="6556248" y="2615184"/>
            <a:ext cx="2331720" cy="731520"/>
          </a:xfrm>
          <a:prstGeom prst="rect">
            <a:avLst/>
          </a:prstGeom>
          <a:noFill/>
        </p:spPr>
        <p:txBody>
          <a:bodyPr wrap="none" lIns="0" rIns="0" tIns="0" bIns="0">
            <a:spAutoFit/>
          </a:bodyPr>
          <a:lstStyle/>
          <a:p>
            <a:pPr>
              <a:lnSpc>
                <a:spcPct val="113000"/>
              </a:lnSpc>
              <a:spcAft>
                <a:spcPts val="0"/>
              </a:spcAft>
              <a:defRPr sz="4300" b="0">
                <a:solidFill>
                  <a:srgbClr val="426D4D"/>
                </a:solidFill>
                <a:latin typeface="DejaVu Sans"/>
              </a:defRPr>
            </a:pPr>
            <a:r>
              <a:t>≥90%</a:t>
            </a:r>
          </a:p>
        </p:txBody>
      </p:sp>
      <p:sp>
        <p:nvSpPr>
          <p:cNvPr id="21" name="TextBox 20"/>
          <p:cNvSpPr txBox="1"/>
          <p:nvPr/>
        </p:nvSpPr>
        <p:spPr>
          <a:xfrm>
            <a:off x="8887968" y="2752344"/>
            <a:ext cx="2331720" cy="457200"/>
          </a:xfrm>
          <a:prstGeom prst="rect">
            <a:avLst/>
          </a:prstGeom>
          <a:noFill/>
        </p:spPr>
        <p:txBody>
          <a:bodyPr wrap="none" lIns="0" rIns="0" tIns="0" bIns="0">
            <a:spAutoFit/>
          </a:bodyPr>
          <a:lstStyle/>
          <a:p>
            <a:pPr>
              <a:lnSpc>
                <a:spcPct val="113000"/>
              </a:lnSpc>
              <a:spcAft>
                <a:spcPts val="0"/>
              </a:spcAft>
              <a:defRPr sz="1100" b="0">
                <a:solidFill>
                  <a:srgbClr val="7A8C6D"/>
                </a:solidFill>
                <a:latin typeface="DejaVu Sans"/>
              </a:defRPr>
            </a:pPr>
            <a:r>
              <a:t>required initial</a:t>
            </a:r>
          </a:p>
          <a:p>
            <a:pPr>
              <a:lnSpc>
                <a:spcPct val="113000"/>
              </a:lnSpc>
              <a:spcAft>
                <a:spcPts val="0"/>
              </a:spcAft>
              <a:defRPr sz="1100" b="0">
                <a:solidFill>
                  <a:srgbClr val="7A8C6D"/>
                </a:solidFill>
                <a:latin typeface="DejaVu Sans"/>
              </a:defRPr>
            </a:pPr>
            <a:r>
              <a:t>sample pass rate</a:t>
            </a:r>
          </a:p>
        </p:txBody>
      </p:sp>
      <p:sp>
        <p:nvSpPr>
          <p:cNvPr id="22" name="TextBox 21"/>
          <p:cNvSpPr txBox="1"/>
          <p:nvPr/>
        </p:nvSpPr>
        <p:spPr>
          <a:xfrm>
            <a:off x="6556248" y="3685032"/>
            <a:ext cx="4663440" cy="457200"/>
          </a:xfrm>
          <a:prstGeom prst="rect">
            <a:avLst/>
          </a:prstGeom>
          <a:noFill/>
        </p:spPr>
        <p:txBody>
          <a:bodyPr wrap="none" lIns="0" rIns="0" tIns="0" bIns="0">
            <a:spAutoFit/>
          </a:bodyPr>
          <a:lstStyle/>
          <a:p>
            <a:pPr>
              <a:lnSpc>
                <a:spcPct val="113000"/>
              </a:lnSpc>
              <a:spcAft>
                <a:spcPts val="0"/>
              </a:spcAft>
              <a:defRPr sz="1500" b="1">
                <a:solidFill>
                  <a:srgbClr val="1B3E31"/>
                </a:solidFill>
                <a:latin typeface="DejaVu Sans"/>
              </a:defRPr>
            </a:pPr>
            <a:r>
              <a:t>0 / 34 reviewed · Not measured</a:t>
            </a:r>
          </a:p>
        </p:txBody>
      </p:sp>
      <p:sp>
        <p:nvSpPr>
          <p:cNvPr id="23" name="TextBox 22"/>
          <p:cNvSpPr txBox="1"/>
          <p:nvPr/>
        </p:nvSpPr>
        <p:spPr>
          <a:xfrm>
            <a:off x="6556248" y="4251960"/>
            <a:ext cx="4663440" cy="594360"/>
          </a:xfrm>
          <a:prstGeom prst="rect">
            <a:avLst/>
          </a:prstGeom>
          <a:noFill/>
        </p:spPr>
        <p:txBody>
          <a:bodyPr wrap="none" lIns="0" rIns="0" tIns="0" bIns="0">
            <a:spAutoFit/>
          </a:bodyPr>
          <a:lstStyle/>
          <a:p>
            <a:pPr>
              <a:lnSpc>
                <a:spcPct val="113000"/>
              </a:lnSpc>
              <a:spcAft>
                <a:spcPts val="0"/>
              </a:spcAft>
              <a:defRPr sz="1000" b="0">
                <a:solidFill>
                  <a:srgbClr val="7A8C6D"/>
                </a:solidFill>
                <a:latin typeface="DejaVu Sans"/>
              </a:defRPr>
            </a:pPr>
            <a:r>
              <a:t>Source, date, classification and claim.</a:t>
            </a:r>
          </a:p>
          <a:p>
            <a:pPr>
              <a:lnSpc>
                <a:spcPct val="113000"/>
              </a:lnSpc>
              <a:spcAft>
                <a:spcPts val="0"/>
              </a:spcAft>
              <a:defRPr sz="1000" b="0">
                <a:solidFill>
                  <a:srgbClr val="7A8C6D"/>
                </a:solidFill>
                <a:latin typeface="DejaVu Sans"/>
              </a:defRPr>
            </a:pPr>
            <a:r>
              <a:t>The initial sample is frozen before correction.</a:t>
            </a:r>
          </a:p>
          <a:p>
            <a:pPr>
              <a:lnSpc>
                <a:spcPct val="113000"/>
              </a:lnSpc>
              <a:spcAft>
                <a:spcPts val="0"/>
              </a:spcAft>
              <a:defRPr sz="1000" b="0">
                <a:solidFill>
                  <a:srgbClr val="7A8C6D"/>
                </a:solidFill>
                <a:latin typeface="DejaVu Sans"/>
              </a:defRPr>
            </a:pPr>
            <a:r>
              <a:t>Unapproved claims stay out of the public release.</a:t>
            </a:r>
          </a:p>
        </p:txBody>
      </p:sp>
      <p:sp>
        <p:nvSpPr>
          <p:cNvPr id="24" name="Rounded Rectangle 23"/>
          <p:cNvSpPr/>
          <p:nvPr/>
        </p:nvSpPr>
        <p:spPr>
          <a:xfrm>
            <a:off x="548640" y="5440680"/>
            <a:ext cx="11082528" cy="658368"/>
          </a:xfrm>
          <a:prstGeom prst="roundRect">
            <a:avLst>
              <a:gd name="adj" fmla="val 12000"/>
            </a:avLst>
          </a:prstGeom>
          <a:solidFill>
            <a:srgbClr val="EBE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596128"/>
            <a:ext cx="10607040" cy="411480"/>
          </a:xfrm>
          <a:prstGeom prst="rect">
            <a:avLst/>
          </a:prstGeom>
          <a:noFill/>
        </p:spPr>
        <p:txBody>
          <a:bodyPr wrap="none" lIns="0" rIns="0" tIns="0" bIns="0">
            <a:spAutoFit/>
          </a:bodyPr>
          <a:lstStyle/>
          <a:p>
            <a:pPr>
              <a:lnSpc>
                <a:spcPct val="113000"/>
              </a:lnSpc>
              <a:spcAft>
                <a:spcPts val="0"/>
              </a:spcAft>
              <a:defRPr sz="1000" b="0">
                <a:solidFill>
                  <a:srgbClr val="8A754C"/>
                </a:solidFill>
                <a:latin typeface="DejaVu Sans"/>
              </a:defRPr>
            </a:pPr>
            <a:r>
              <a:t>Known failure: US error 1.95 years vs 0.91 for no change. Wider interval coverage: 74.9% (90% target).</a:t>
            </a:r>
          </a:p>
        </p:txBody>
      </p:sp>
      <p:sp>
        <p:nvSpPr>
          <p:cNvPr id="26" name="TextBox 25"/>
          <p:cNvSpPr txBox="1"/>
          <p:nvPr/>
        </p:nvSpPr>
        <p:spPr>
          <a:xfrm>
            <a:off x="594360" y="6190488"/>
            <a:ext cx="10972800" cy="164592"/>
          </a:xfrm>
          <a:prstGeom prst="rect">
            <a:avLst/>
          </a:prstGeom>
          <a:noFill/>
        </p:spPr>
        <p:txBody>
          <a:bodyPr wrap="none" lIns="0" rIns="0" tIns="0" bIns="0">
            <a:spAutoFit/>
          </a:bodyPr>
          <a:lstStyle/>
          <a:p>
            <a:pPr>
              <a:lnSpc>
                <a:spcPct val="113000"/>
              </a:lnSpc>
              <a:spcAft>
                <a:spcPts val="0"/>
              </a:spcAft>
              <a:defRPr sz="800" b="0">
                <a:solidFill>
                  <a:srgbClr val="7A8C6D"/>
                </a:solidFill>
                <a:latin typeface="DejaVu Sans"/>
              </a:defRPr>
            </a:pPr>
            <a:r>
              <a:t>Next pilot: test analyst interpretation and review comparable fundamental-ageing research funding. Team: Selja · Max · Jan.</a:t>
            </a:r>
          </a:p>
        </p:txBody>
      </p:sp>
      <p:cxnSp>
        <p:nvCxnSpPr>
          <p:cNvPr id="27" name="Connector 26"/>
          <p:cNvCxnSpPr/>
          <p:nvPr/>
        </p:nvCxnSpPr>
        <p:spPr>
          <a:xfrm>
            <a:off x="502920" y="6419088"/>
            <a:ext cx="11183112" cy="0"/>
          </a:xfrm>
          <a:prstGeom prst="line">
            <a:avLst/>
          </a:prstGeom>
          <a:ln w="6350">
            <a:solidFill>
              <a:srgbClr val="DCE3D2"/>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920" y="6519672"/>
            <a:ext cx="10789920" cy="182880"/>
          </a:xfrm>
          <a:prstGeom prst="rect">
            <a:avLst/>
          </a:prstGeom>
          <a:noFill/>
        </p:spPr>
        <p:txBody>
          <a:bodyPr wrap="none" lIns="0" rIns="0" tIns="0" bIns="0">
            <a:spAutoFit/>
          </a:bodyPr>
          <a:lstStyle/>
          <a:p>
            <a:pPr>
              <a:lnSpc>
                <a:spcPct val="113000"/>
              </a:lnSpc>
              <a:spcAft>
                <a:spcPts val="0"/>
              </a:spcAft>
              <a:defRPr sz="640" b="0">
                <a:solidFill>
                  <a:srgbClr val="7A8C6D"/>
                </a:solidFill>
                <a:latin typeface="DejaVu Sans"/>
              </a:defRPr>
            </a:pPr>
            <a:r>
              <a:t>Measured from release b89b9bf93a80 / d9261b592fe1, 11 Sep 2026. Current revised data; non-causal model. No clinical claims.</a:t>
            </a:r>
          </a:p>
        </p:txBody>
      </p:sp>
      <p:sp>
        <p:nvSpPr>
          <p:cNvPr id="29" name="TextBox 28"/>
          <p:cNvSpPr txBox="1"/>
          <p:nvPr/>
        </p:nvSpPr>
        <p:spPr>
          <a:xfrm>
            <a:off x="11384280" y="6492240"/>
            <a:ext cx="365760" cy="182880"/>
          </a:xfrm>
          <a:prstGeom prst="rect">
            <a:avLst/>
          </a:prstGeom>
          <a:noFill/>
        </p:spPr>
        <p:txBody>
          <a:bodyPr wrap="none" lIns="0" rIns="0" tIns="0" bIns="0">
            <a:spAutoFit/>
          </a:bodyPr>
          <a:lstStyle/>
          <a:p>
            <a:pPr>
              <a:lnSpc>
                <a:spcPct val="113000"/>
              </a:lnSpc>
              <a:spcAft>
                <a:spcPts val="0"/>
              </a:spcAft>
              <a:defRPr sz="800" b="0">
                <a:solidFill>
                  <a:srgbClr val="7A8C6D"/>
                </a:solidFill>
                <a:latin typeface="DejaVu Sans"/>
              </a:defRPr>
            </a:pPr>
            <a:r>
              <a:t>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Longview | Policy and population health</dc:title>
  <dc:subject>Stockholm AI × Longevity Hackathon, 2026</dc:subject>
  <dc:creator>Selja, Max, Jan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